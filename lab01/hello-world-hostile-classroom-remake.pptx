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1a4013b2994c01" /><Relationship Type="http://schemas.openxmlformats.org/officeDocument/2006/relationships/extended-properties" Target="/docProps/app.xml" Id="R6814eb9c5ff64e5b" /><Relationship Type="http://schemas.openxmlformats.org/officeDocument/2006/relationships/officeDocument" Target="/ppt/presentation.xml" Id="Rb986205970da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e8425efbc74132"/>
  </p:sldMasterIdLst>
  <p:notesMasterIdLst>
    <p:notesMasterId xmlns:r="http://schemas.openxmlformats.org/officeDocument/2006/relationships" r:id="R89692379034048cd"/>
  </p:notesMasterIdLst>
  <p:sldIdLst>
    <p:sldId xmlns:r="http://schemas.openxmlformats.org/officeDocument/2006/relationships" id="256" r:id="R2efcff70bf924f5f"/>
    <p:sldId xmlns:r="http://schemas.openxmlformats.org/officeDocument/2006/relationships" id="257" r:id="R8b19e5a64fa2412d"/>
    <p:sldId xmlns:r="http://schemas.openxmlformats.org/officeDocument/2006/relationships" id="258" r:id="R4be43374e7d14811"/>
    <p:sldId xmlns:r="http://schemas.openxmlformats.org/officeDocument/2006/relationships" id="259" r:id="R36b39c115c894e46"/>
    <p:sldId xmlns:r="http://schemas.openxmlformats.org/officeDocument/2006/relationships" id="260" r:id="R06188cd031b2434d"/>
    <p:sldId xmlns:r="http://schemas.openxmlformats.org/officeDocument/2006/relationships" id="261" r:id="Rdc81b6a7d9af4725"/>
    <p:sldId xmlns:r="http://schemas.openxmlformats.org/officeDocument/2006/relationships" id="262" r:id="R837db8309fff4b31"/>
    <p:sldId xmlns:r="http://schemas.openxmlformats.org/officeDocument/2006/relationships" id="263" r:id="R5a8655da54ac4ad5"/>
    <p:sldId xmlns:r="http://schemas.openxmlformats.org/officeDocument/2006/relationships" id="264" r:id="R2e6ac970eaef47b0"/>
    <p:sldId xmlns:r="http://schemas.openxmlformats.org/officeDocument/2006/relationships" id="265" r:id="R7ae5061f04ea449d"/>
    <p:sldId xmlns:r="http://schemas.openxmlformats.org/officeDocument/2006/relationships" id="266" r:id="Rdb67ccae9a3a432c"/>
    <p:sldId xmlns:r="http://schemas.openxmlformats.org/officeDocument/2006/relationships" id="267" r:id="Ra7e2352faa2448e1"/>
    <p:sldId xmlns:r="http://schemas.openxmlformats.org/officeDocument/2006/relationships" id="268" r:id="R765ade97018146e0"/>
    <p:sldId xmlns:r="http://schemas.openxmlformats.org/officeDocument/2006/relationships" id="269" r:id="Rf4be0193bcce4c96"/>
    <p:sldId xmlns:r="http://schemas.openxmlformats.org/officeDocument/2006/relationships" id="270" r:id="R774ac1c48063445d"/>
    <p:sldId xmlns:r="http://schemas.openxmlformats.org/officeDocument/2006/relationships" id="271" r:id="R1b4673c132004fc8"/>
    <p:sldId xmlns:r="http://schemas.openxmlformats.org/officeDocument/2006/relationships" id="272" r:id="Rf3287a2bb9bb4058"/>
    <p:sldId xmlns:r="http://schemas.openxmlformats.org/officeDocument/2006/relationships" id="273" r:id="Re528ea3d56634608"/>
    <p:sldId xmlns:r="http://schemas.openxmlformats.org/officeDocument/2006/relationships" id="274" r:id="R44e6525f8e6f4de4"/>
    <p:sldId xmlns:r="http://schemas.openxmlformats.org/officeDocument/2006/relationships" id="275" r:id="Rc36b22ca8cfa4f59"/>
    <p:sldId xmlns:r="http://schemas.openxmlformats.org/officeDocument/2006/relationships" id="276" r:id="R125ffcf072d54267"/>
    <p:sldId xmlns:r="http://schemas.openxmlformats.org/officeDocument/2006/relationships" id="277" r:id="Re2c925ace0444677"/>
    <p:sldId xmlns:r="http://schemas.openxmlformats.org/officeDocument/2006/relationships" id="278" r:id="R00401f3d645e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f096f0497a45d1" /><Relationship Type="http://schemas.openxmlformats.org/officeDocument/2006/relationships/slideMaster" Target="/ppt/slideMasters/slideMaster1.xml" Id="Rb4e8425efbc74132" /><Relationship Type="http://schemas.openxmlformats.org/officeDocument/2006/relationships/notesMaster" Target="/ppt/notesMasters/notesMaster1.xml" Id="R89692379034048cd" /><Relationship Type="http://schemas.openxmlformats.org/officeDocument/2006/relationships/presProps" Target="/ppt/presProps.xml" Id="R4b53fbafa6e442cb" /><Relationship Type="http://schemas.openxmlformats.org/officeDocument/2006/relationships/tableStyles" Target="/ppt/tableStyles.xml" Id="R34691fe90a0b4abd" /><Relationship Type="http://schemas.openxmlformats.org/officeDocument/2006/relationships/slide" Target="/ppt/slides/slide1.xml" Id="R2efcff70bf924f5f" /><Relationship Type="http://schemas.openxmlformats.org/officeDocument/2006/relationships/slide" Target="/ppt/slides/slide2.xml" Id="R8b19e5a64fa2412d" /><Relationship Type="http://schemas.openxmlformats.org/officeDocument/2006/relationships/slide" Target="/ppt/slides/slide3.xml" Id="R4be43374e7d14811" /><Relationship Type="http://schemas.openxmlformats.org/officeDocument/2006/relationships/slide" Target="/ppt/slides/slide4.xml" Id="R36b39c115c894e46" /><Relationship Type="http://schemas.openxmlformats.org/officeDocument/2006/relationships/slide" Target="/ppt/slides/slide5.xml" Id="R06188cd031b2434d" /><Relationship Type="http://schemas.openxmlformats.org/officeDocument/2006/relationships/slide" Target="/ppt/slides/slide6.xml" Id="Rdc81b6a7d9af4725" /><Relationship Type="http://schemas.openxmlformats.org/officeDocument/2006/relationships/slide" Target="/ppt/slides/slide7.xml" Id="R837db8309fff4b31" /><Relationship Type="http://schemas.openxmlformats.org/officeDocument/2006/relationships/slide" Target="/ppt/slides/slide8.xml" Id="R5a8655da54ac4ad5" /><Relationship Type="http://schemas.openxmlformats.org/officeDocument/2006/relationships/slide" Target="/ppt/slides/slide9.xml" Id="R2e6ac970eaef47b0" /><Relationship Type="http://schemas.openxmlformats.org/officeDocument/2006/relationships/slide" Target="/ppt/slides/slide10.xml" Id="R7ae5061f04ea449d" /><Relationship Type="http://schemas.openxmlformats.org/officeDocument/2006/relationships/slide" Target="/ppt/slides/slide11.xml" Id="Rdb67ccae9a3a432c" /><Relationship Type="http://schemas.openxmlformats.org/officeDocument/2006/relationships/slide" Target="/ppt/slides/slide12.xml" Id="Ra7e2352faa2448e1" /><Relationship Type="http://schemas.openxmlformats.org/officeDocument/2006/relationships/slide" Target="/ppt/slides/slide13.xml" Id="R765ade97018146e0" /><Relationship Type="http://schemas.openxmlformats.org/officeDocument/2006/relationships/slide" Target="/ppt/slides/slide14.xml" Id="Rf4be0193bcce4c96" /><Relationship Type="http://schemas.openxmlformats.org/officeDocument/2006/relationships/slide" Target="/ppt/slides/slide15.xml" Id="R774ac1c48063445d" /><Relationship Type="http://schemas.openxmlformats.org/officeDocument/2006/relationships/slide" Target="/ppt/slides/slide16.xml" Id="R1b4673c132004fc8" /><Relationship Type="http://schemas.openxmlformats.org/officeDocument/2006/relationships/slide" Target="/ppt/slides/slide17.xml" Id="Rf3287a2bb9bb4058" /><Relationship Type="http://schemas.openxmlformats.org/officeDocument/2006/relationships/slide" Target="/ppt/slides/slide18.xml" Id="Re528ea3d56634608" /><Relationship Type="http://schemas.openxmlformats.org/officeDocument/2006/relationships/slide" Target="/ppt/slides/slide19.xml" Id="R44e6525f8e6f4de4" /><Relationship Type="http://schemas.openxmlformats.org/officeDocument/2006/relationships/slide" Target="/ppt/slides/slide20.xml" Id="Rc36b22ca8cfa4f59" /><Relationship Type="http://schemas.openxmlformats.org/officeDocument/2006/relationships/slide" Target="/ppt/slides/slide21.xml" Id="R125ffcf072d54267" /><Relationship Type="http://schemas.openxmlformats.org/officeDocument/2006/relationships/slide" Target="/ppt/slides/slide22.xml" Id="Re2c925ace0444677" /><Relationship Type="http://schemas.openxmlformats.org/officeDocument/2006/relationships/slide" Target="/ppt/slides/slide23.xml" Id="R00401f3d645e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e55c05a3b40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c1e126fcd64199" /><Relationship Type="http://schemas.openxmlformats.org/officeDocument/2006/relationships/notesMaster" Target="/ppt/notesMasters/notesMaster1.xml" Id="R7fe2dea859f7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27c78d46df4835" /><Relationship Type="http://schemas.openxmlformats.org/officeDocument/2006/relationships/notesMaster" Target="/ppt/notesMasters/notesMaster1.xml" Id="Rf737a3b70463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044fe8979f4ad2" /><Relationship Type="http://schemas.openxmlformats.org/officeDocument/2006/relationships/notesMaster" Target="/ppt/notesMasters/notesMaster1.xml" Id="R0921d82e67fd49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68559dcc0470b" /><Relationship Type="http://schemas.openxmlformats.org/officeDocument/2006/relationships/notesMaster" Target="/ppt/notesMasters/notesMaster1.xml" Id="Rcb6c0563066840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07fea583c4a60" /><Relationship Type="http://schemas.openxmlformats.org/officeDocument/2006/relationships/notesMaster" Target="/ppt/notesMasters/notesMaster1.xml" Id="Rdcfcc9cc384a4b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ea9440434c43c0" /><Relationship Type="http://schemas.openxmlformats.org/officeDocument/2006/relationships/notesMaster" Target="/ppt/notesMasters/notesMaster1.xml" Id="R5eea35d5e4b149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c30a3b234e4e09" /><Relationship Type="http://schemas.openxmlformats.org/officeDocument/2006/relationships/notesMaster" Target="/ppt/notesMasters/notesMaster1.xml" Id="R0263aaa228304c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47e2cb34f146ac" /><Relationship Type="http://schemas.openxmlformats.org/officeDocument/2006/relationships/notesMaster" Target="/ppt/notesMasters/notesMaster1.xml" Id="R829b19d61fb048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5d39b745654b48" /><Relationship Type="http://schemas.openxmlformats.org/officeDocument/2006/relationships/notesMaster" Target="/ppt/notesMasters/notesMaster1.xml" Id="Rb3c291ab637f4c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4c880b11604202" /><Relationship Type="http://schemas.openxmlformats.org/officeDocument/2006/relationships/notesMaster" Target="/ppt/notesMasters/notesMaster1.xml" Id="Rc8ce06f23a0345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5bcdf488d34082" /><Relationship Type="http://schemas.openxmlformats.org/officeDocument/2006/relationships/notesMaster" Target="/ppt/notesMasters/notesMaster1.xml" Id="R69e16e61dc2745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22123a155a45a9" /><Relationship Type="http://schemas.openxmlformats.org/officeDocument/2006/relationships/notesMaster" Target="/ppt/notesMasters/notesMaster1.xml" Id="R15176f9188c345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0112ec844a4a88" /><Relationship Type="http://schemas.openxmlformats.org/officeDocument/2006/relationships/notesMaster" Target="/ppt/notesMasters/notesMaster1.xml" Id="R4b69c735f25f49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c15d397a1544c7" /><Relationship Type="http://schemas.openxmlformats.org/officeDocument/2006/relationships/notesMaster" Target="/ppt/notesMasters/notesMaster1.xml" Id="Rfde98c5a71ab4d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9e7b2f1700461e" /><Relationship Type="http://schemas.openxmlformats.org/officeDocument/2006/relationships/notesMaster" Target="/ppt/notesMasters/notesMaster1.xml" Id="Ra6b5f48e188445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df0f11d7774e52" /><Relationship Type="http://schemas.openxmlformats.org/officeDocument/2006/relationships/notesMaster" Target="/ppt/notesMasters/notesMaster1.xml" Id="R6064148226d340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3251959e2e46f8" /><Relationship Type="http://schemas.openxmlformats.org/officeDocument/2006/relationships/notesMaster" Target="/ppt/notesMasters/notesMaster1.xml" Id="R538bd370431141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a4ecb9523549a6" /><Relationship Type="http://schemas.openxmlformats.org/officeDocument/2006/relationships/notesMaster" Target="/ppt/notesMasters/notesMaster1.xml" Id="Rb90048a8cae2477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046317cb044168" /><Relationship Type="http://schemas.openxmlformats.org/officeDocument/2006/relationships/notesMaster" Target="/ppt/notesMasters/notesMaster1.xml" Id="Rc36ae129b23b486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8993e3806c44c5" /><Relationship Type="http://schemas.openxmlformats.org/officeDocument/2006/relationships/notesMaster" Target="/ppt/notesMasters/notesMaster1.xml" Id="R28be03e9a7db44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82052146b9c4d0a" /><Relationship Type="http://schemas.openxmlformats.org/officeDocument/2006/relationships/notesMaster" Target="/ppt/notesMasters/notesMaster1.xml" Id="R91b38b9787ca4c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17f449a49547d5" /><Relationship Type="http://schemas.openxmlformats.org/officeDocument/2006/relationships/notesMaster" Target="/ppt/notesMasters/notesMaster1.xml" Id="R28e319ec052e4e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c057357f8a4a23" /><Relationship Type="http://schemas.openxmlformats.org/officeDocument/2006/relationships/notesMaster" Target="/ppt/notesMasters/notesMaster1.xml" Id="R69a085b7c7f7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[TONE SHIFT] Do not defend the topic. Agree with the hostility.</a:t>
            </a:r>
          </a:p>
          <a:p xmlns:a="http://schemas.openxmlformats.org/drawingml/2006/main">
            <a:r>
              <a:t>Say: Some of you think this is beneath you. Some think it has nothing to do with you. Excellent. Both claims are testable.</a:t>
            </a:r>
          </a:p>
          <a:p xmlns:a="http://schemas.openxmlformats.org/drawingml/2006/main">
            <a:r>
              <a:t>[PAUSE] The test is not whether the sketch runs. The test is whether you can call what happens next.</a:t>
            </a:r>
          </a:p>
          <a:p xmlns:a="http://schemas.openxmlformats.org/drawingml/2006/main">
            <a:r>
              <a:t>MEME NOTE: Two Buttons — 'This is too easy' / 'I have no idea what happens next.'</a:t>
            </a:r>
          </a:p>
          <a:p xmlns:a="http://schemas.openxmlformats.org/drawingml/2006/main">
            <a:r>
              <a:t>TRANSITION: Let us remove the easiest false positive first: visible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https://p5js.org/reference/p5/setup/</a:t>
            </a:r>
          </a:p>
          <a:p xmlns:a="http://schemas.openxmlformats.org/drawingml/2006/main">
            <a:r>
              <a:t>- https://p5js.org/reference/p5/draw/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advanced students: Can you predict an unfamiliar program without running it?</a:t>
            </a:r>
          </a:p>
          <a:p xmlns:a="http://schemas.openxmlformats.org/drawingml/2006/main">
            <a:r>
              <a:t>Ask novices: Would three answer choices make that prediction possible?</a:t>
            </a:r>
          </a:p>
          <a:p xmlns:a="http://schemas.openxmlformats.org/drawingml/2006/main">
            <a:r>
              <a:t>DAD JOKE: A screenshot walked into a compiler. The compiler said, 'I do not see your type.'</a:t>
            </a:r>
          </a:p>
          <a:p xmlns:a="http://schemas.openxmlformats.org/drawingml/2006/main">
            <a:r>
              <a:t>TRANSITION: Confidence is cheap. We are going to make wagers.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everyone ten seconds per prediction. Advanced students must name the exact state or condition; novices may vote A/B/C.</a:t>
            </a:r>
          </a:p>
          <a:p xmlns:a="http://schemas.openxmlformats.org/drawingml/2006/main">
            <a:r>
              <a:t>No one loses points for a wrong prediction. They lose the chance to learn if they predict after the reveal.</a:t>
            </a:r>
          </a:p>
          <a:p xmlns:a="http://schemas.openxmlformats.org/drawingml/2006/main">
            <a:r>
              <a:t>MEME NOTE: Drake — rejects 'It works'; approves 'I called the next frame.'</a:t>
            </a:r>
          </a:p>
          <a:p xmlns:a="http://schemas.openxmlformats.org/drawingml/2006/main">
            <a:r>
              <a:t>TRANSITION: Enough claims. First wager.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[PAUSE] Hands or fingers: A, B, or C. Do not accept 'it depends' unless the student names the dependency.</a:t>
            </a:r>
          </a:p>
          <a:p xmlns:a="http://schemas.openxmlformats.org/drawingml/2006/main">
            <a:r>
              <a:t>Advanced extension: Who calls draw()? Where is the loop if no loop appears in the text?</a:t>
            </a:r>
          </a:p>
          <a:p xmlns:a="http://schemas.openxmlformats.org/drawingml/2006/main">
            <a:r>
              <a:t>DAD JOKE: setup() is a one-time offer. draw() keeps renewing the subscription.</a:t>
            </a:r>
          </a:p>
          <a:p xmlns:a="http://schemas.openxmlformats.org/drawingml/2006/main">
            <a:r>
              <a:t>[CLICK] Advance without talking.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https://p5js.org/reference/p5/setup/</a:t>
            </a:r>
          </a:p>
          <a:p xmlns:a="http://schemas.openxmlformats.org/drawingml/2006/main">
            <a:r>
              <a:t>- https://p5js.org/reference/p5/draw/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correct voters enjoy one second of unbearable superiority.</a:t>
            </a:r>
          </a:p>
          <a:p xmlns:a="http://schemas.openxmlformats.org/drawingml/2006/main">
            <a:r>
              <a:t>Then ask: What evidence on the screen proves repetition? Answer: none. We need the execution contract.</a:t>
            </a:r>
          </a:p>
          <a:p xmlns:a="http://schemas.openxmlformats.org/drawingml/2006/main">
            <a:r>
              <a:t>MEME NOTE: 'Nothing is happening' — meanwhile draw() is quietly doing the same job sixty times a second.</a:t>
            </a:r>
          </a:p>
          <a:p xmlns:a="http://schemas.openxmlformats.org/drawingml/2006/main">
            <a:r>
              <a:t>TRANSITION: Repetition gives a variable the chance to acquire a past.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https://p5js.org/reference/p5/setup/</a:t>
            </a:r>
          </a:p>
          <a:p xmlns:a="http://schemas.openxmlformats.org/drawingml/2006/main">
            <a:r>
              <a:t>- https://p5js.org/reference/p5/draw/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[PAUSE] A, B, or C. Require advanced students to name the lifetime and scope of the state.</a:t>
            </a:r>
          </a:p>
          <a:p xmlns:a="http://schemas.openxmlformats.org/drawingml/2006/main">
            <a:r>
              <a:t>Novice foothold: ask which value exists before draw() starts again.</a:t>
            </a:r>
          </a:p>
          <a:p xmlns:a="http://schemas.openxmlformats.org/drawingml/2006/main">
            <a:r>
              <a:t>DAD JOKE: x wanted character development, so we gave it state.</a:t>
            </a:r>
          </a:p>
          <a:p xmlns:a="http://schemas.openxmlformats.org/drawingml/2006/main">
            <a:r>
              <a:t>[CLICK]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https://p5js.org/reference/p5/draw/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redrawn. The variable x survives and changes, so it carries the object's history.</a:t>
            </a:r>
          </a:p>
          <a:p xmlns:a="http://schemas.openxmlformats.org/drawingml/2006/main">
            <a:r>
              <a:t>This is why 'What do I see?' and 'What state now exists?' are different questions.</a:t>
            </a:r>
          </a:p>
          <a:p xmlns:a="http://schemas.openxmlformats.org/drawingml/2006/main">
            <a:r>
              <a:t>MEME NOTE: Spider-Man pointing — the pixels point at x; x points at the next frame.</a:t>
            </a:r>
          </a:p>
          <a:p xmlns:a="http://schemas.openxmlformats.org/drawingml/2006/main">
            <a:r>
              <a:t>TRANSITION: One present image can hide more than one future.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https://p5js.org/reference/p5/draw/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[PAUSE] Ask for the line of evidence, not only the letter.</a:t>
            </a:r>
          </a:p>
          <a:p xmlns:a="http://schemas.openxmlformats.org/drawingml/2006/main">
            <a:r>
              <a:t>Advanced extension: Name the smallest text change that reverses the future without changing the current frame.</a:t>
            </a:r>
          </a:p>
          <a:p xmlns:a="http://schemas.openxmlformats.org/drawingml/2006/main">
            <a:r>
              <a:t>DAD JOKE: Velocity signed the contract. Direction was in the fine print.</a:t>
            </a:r>
          </a:p>
          <a:p xmlns:a="http://schemas.openxmlformats.org/drawingml/2006/main">
            <a:r>
              <a:t>[CLICK]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screenshots are true and still insufficient. Their future depends on signed velocity.</a:t>
            </a:r>
          </a:p>
          <a:p xmlns:a="http://schemas.openxmlformats.org/drawingml/2006/main">
            <a:r>
              <a:t>MEME NOTE: Distracted Boyfriend — current screenshot looks at appearance; program state walks past carrying the future.</a:t>
            </a:r>
          </a:p>
          <a:p xmlns:a="http://schemas.openxmlformats.org/drawingml/2006/main">
            <a:r>
              <a:t>TRANSITION: Now we will let a wrong theory collide with the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[PAUSE] Ask students to point to the part of the rectangle named by x.</a:t>
            </a:r>
          </a:p>
          <a:p xmlns:a="http://schemas.openxmlformats.org/drawingml/2006/main">
            <a:r>
              <a:t>Novice foothold: x is the left edge. The object is still w pixels wide.</a:t>
            </a:r>
          </a:p>
          <a:p xmlns:a="http://schemas.openxmlformats.org/drawingml/2006/main">
            <a:r>
              <a:t>DAD JOKE: The rectangle crossed the line because nobody taught it edge-iquette.</a:t>
            </a:r>
          </a:p>
          <a:p xmlns:a="http://schemas.openxmlformats.org/drawingml/2006/main">
            <a:r>
              <a:t>[CLICK]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https://p5js.org/tutorials/variables-and-change/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Heideggerian moment: smooth use stops, and the hidden relation becomes visible.</a:t>
            </a:r>
          </a:p>
          <a:p xmlns:a="http://schemas.openxmlformats.org/drawingml/2006/main">
            <a:r>
              <a:t>Say: The bug did not merely interrupt understanding. The bug produced it.</a:t>
            </a:r>
          </a:p>
          <a:p xmlns:a="http://schemas.openxmlformats.org/drawingml/2006/main">
            <a:r>
              <a:t>MEME NOTE: Surprised Pikachu — when the left edge reaches the right boundary eighty pixels too late.</a:t>
            </a:r>
          </a:p>
          <a:p xmlns:a="http://schemas.openxmlformats.org/drawingml/2006/main">
            <a:r>
              <a:t>TRANSITION: A visual failure shows what ran. An error message can show what stopped.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https://www.beyng.com/pages/en/BeingandTimeMR/BeingandTimeMR.102.html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Which operation was attempted? Which state still exists? What is the smallest valid recovery?</a:t>
            </a:r>
          </a:p>
          <a:p xmlns:a="http://schemas.openxmlformats.org/drawingml/2006/main">
            <a:r>
              <a:t>Do not say 'the code broke.' Name the operation: the preview refresh stopped because refresh was undefined.</a:t>
            </a:r>
          </a:p>
          <a:p xmlns:a="http://schemas.openxmlformats.org/drawingml/2006/main">
            <a:r>
              <a:t>DAD JOKE: The function was undefined. Honestly, same before coffee.</a:t>
            </a:r>
          </a:p>
          <a:p xmlns:a="http://schemas.openxmlformats.org/drawingml/2006/main">
            <a:r>
              <a:t>TRANSITION: The console tells us what participated. It does not automatically tell us what never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Goodin's negative-space question: What did the system omit, reject, or never attempt?</a:t>
            </a:r>
          </a:p>
          <a:p xmlns:a="http://schemas.openxmlformats.org/drawingml/2006/main">
            <a:r>
              <a:t>Ask the room for one missing event, one rejected branch, and one absent recovery path.</a:t>
            </a:r>
          </a:p>
          <a:p xmlns:a="http://schemas.openxmlformats.org/drawingml/2006/main">
            <a:r>
              <a:t>MEME NOTE: John Travolta looking around — the missing validation step is not in the room.</a:t>
            </a:r>
          </a:p>
          <a:p xmlns:a="http://schemas.openxmlformats.org/drawingml/2006/main">
            <a:r>
              <a:t>TRANSITION: Once the missing operation is visible, repair the rule that should have governed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https://ntrs.nasa.gov/citations/20110024177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patches: changing width to width - 80 hides one symptom; naming x + w repairs the geometric theory.</a:t>
            </a:r>
          </a:p>
          <a:p xmlns:a="http://schemas.openxmlformats.org/drawingml/2006/main">
            <a:r>
              <a:t>Ask advanced students for another valid invariant-preserving repair. Ask novices to read the invariant aloud.</a:t>
            </a:r>
          </a:p>
          <a:p xmlns:a="http://schemas.openxmlformats.org/drawingml/2006/main">
            <a:r>
              <a:t>DAD JOKE: We did not move the goalpost. We finally measured the whole rectangle.</a:t>
            </a:r>
          </a:p>
          <a:p xmlns:a="http://schemas.openxmlformats.org/drawingml/2006/main">
            <a:r>
              <a:t>TRANSITION: If the rule matters, the prompt must state it before code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https://www.cs.utexas.edu/~EWD/transcriptions/EWD03xx/EWD303.html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read the full prompt aloud. Point to PURPOSE, ENTITIES, OPERATIONS, INVARIANT, FAILURE REPORT, OUTPUT.</a:t>
            </a:r>
          </a:p>
          <a:p xmlns:a="http://schemas.openxmlformats.org/drawingml/2006/main">
            <a:r>
              <a:t>Tell advanced students: this is a lightweight behavioral specification. Tell novices: this is how you stop asking AI for magic.</a:t>
            </a:r>
          </a:p>
          <a:p xmlns:a="http://schemas.openxmlformats.org/drawingml/2006/main">
            <a:r>
              <a:t>MEME NOTE: Genie contract — precise wish, fewer cursed side effects.</a:t>
            </a:r>
          </a:p>
          <a:p xmlns:a="http://schemas.openxmlformats.org/drawingml/2006/main">
            <a:r>
              <a:t>TRANSITION: A strong contract can produce runnable text. Runnable is still not owned.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three questions without accepting a run as proof. The diagram-code mismatch is deliberate: its labeled x positions do not follow speed = 3.</a:t>
            </a:r>
          </a:p>
          <a:p xmlns:a="http://schemas.openxmlformats.org/drawingml/2006/main">
            <a:r>
              <a:t>Advanced students should catch the contradiction. Novices can point to the boundary expression and explain signed speed.</a:t>
            </a:r>
          </a:p>
          <a:p xmlns:a="http://schemas.openxmlformats.org/drawingml/2006/main">
            <a:r>
              <a:t>DAD JOKE: The AI gave you code. Unfortunately, the maintenance plan was sold separately.</a:t>
            </a:r>
          </a:p>
          <a:p xmlns:a="http://schemas.openxmlformats.org/drawingml/2006/main">
            <a:r>
              <a:t>TRANSITION: Ownership appears when a new demand arrives.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before showing the right column: What must persist? Expected answers: collision count and resume time.</a:t>
            </a:r>
          </a:p>
          <a:p xmlns:a="http://schemas.openxmlformats.org/drawingml/2006/main">
            <a:r>
              <a:t>This is the change test: the learner must invent state that the original screenshot never contained.</a:t>
            </a:r>
          </a:p>
          <a:p xmlns:a="http://schemas.openxmlformats.org/drawingml/2006/main">
            <a:r>
              <a:t>MEME NOTE: Final Boss music starts when the client says, 'One tiny change.'</a:t>
            </a:r>
          </a:p>
          <a:p xmlns:a="http://schemas.openxmlformats.org/drawingml/2006/main">
            <a:r>
              <a:t>TRANSITION: State explains behavior. Representation explains what the behavior is for.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Which statement helps a screen reader? Which statement helps a programmer modify petal count? We need both.</a:t>
            </a:r>
          </a:p>
          <a:p xmlns:a="http://schemas.openxmlformats.org/drawingml/2006/main">
            <a:r>
              <a:t>Advanced extension: identify the mapping from loop index i to angle a.</a:t>
            </a:r>
          </a:p>
          <a:p xmlns:a="http://schemas.openxmlformats.org/drawingml/2006/main">
            <a:r>
              <a:t>DAD JOKE: The flower had an array of petals. It was outstanding in its field.</a:t>
            </a:r>
          </a:p>
          <a:p xmlns:a="http://schemas.openxmlformats.org/drawingml/2006/main">
            <a:r>
              <a:t>TRANSITION: We need an inspector that keeps structure and intention visible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https://p5js.org/tutorials/writing-accessible-canvas-descriptions/</a:t>
            </a:r>
          </a:p>
          <a:p xmlns:a="http://schemas.openxmlformats.org/drawingml/2006/main">
            <a:r>
              <a:t>- https://p5js.org/tutorials/variables-and-change/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clockwise: state persists; loop repeats; event selects a branch; memory lets history matter.</a:t>
            </a:r>
          </a:p>
          <a:p xmlns:a="http://schemas.openxmlformats.org/drawingml/2006/main">
            <a:r>
              <a:t>Ask one advanced student to falsify the diagram. Ask one novice to point to each relation in the code.</a:t>
            </a:r>
          </a:p>
          <a:p xmlns:a="http://schemas.openxmlformats.org/drawingml/2006/main">
            <a:r>
              <a:t>MEME NOTE: Pepe Silvia corkboard—but with four labels and an actual causal model.</a:t>
            </a:r>
          </a:p>
          <a:p xmlns:a="http://schemas.openxmlformats.org/drawingml/2006/main">
            <a:r>
              <a:t>TRANSITION: Convert the diagram into six questions students can reuse without 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reusable worksheet. Students may answer in code comments, console logs, diagrams, or spoken predictions.</a:t>
            </a:r>
          </a:p>
          <a:p xmlns:a="http://schemas.openxmlformats.org/drawingml/2006/main">
            <a:r>
              <a:t>Pair advanced and novice students only after each person records an individual prediction.</a:t>
            </a:r>
          </a:p>
          <a:p xmlns:a="http://schemas.openxmlformats.org/drawingml/2006/main">
            <a:r>
              <a:t>DAD JOKE: There are 10 kinds of people: those who predict binary jokes and those still tracing the branch.</a:t>
            </a:r>
          </a:p>
          <a:p xmlns:a="http://schemas.openxmlformats.org/drawingml/2006/main">
            <a:r>
              <a:t>TRANSITION: These questions also tell us what good failure looks like.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class to improve one failure along a single axis: distance, timing, ambiguity, evidence, blast radius, or recovery.</a:t>
            </a:r>
          </a:p>
          <a:p xmlns:a="http://schemas.openxmlformats.org/drawingml/2006/main">
            <a:r>
              <a:t>Say: Congratulations—the bug just explained the program better than the comments did.</a:t>
            </a:r>
          </a:p>
          <a:p xmlns:a="http://schemas.openxmlformats.org/drawingml/2006/main">
            <a:r>
              <a:t>MEME NOTE: This Is Fine becomes useful only when the console names which room is on fire.</a:t>
            </a:r>
          </a:p>
          <a:p xmlns:a="http://schemas.openxmlformats.org/drawingml/2006/main">
            <a:r>
              <a:t>TRANSITION: One final demand decides whether the program is actually yours.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https://p5js.org/tutorials/field-guide-to-debugging/</a:t>
            </a:r>
          </a:p>
          <a:p xmlns:a="http://schemas.openxmlformats.org/drawingml/2006/main">
            <a:r>
              <a:t>- https://www.cs.utexas.edu/~EWD/transcriptions/EWD03xx/EWD303.html</a:t>
            </a:r>
          </a:p>
          <a:p xmlns:a="http://schemas.openxmlformats.org/drawingml/2006/main">
            <a:r>
              <a:t>- https://www.beyng.com/pages/en/BeingandTimeMR/BeingandTimeMR.102.html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class a new requirement not shown in the deck: add a second rectangle with a different width and keep both inside the canvas.</a:t>
            </a:r>
          </a:p>
          <a:p xmlns:a="http://schemas.openxmlformats.org/drawingml/2006/main">
            <a:r>
              <a:t>Require: prediction, named invariant, deliberate break, evidence, repair, and one further change.</a:t>
            </a:r>
          </a:p>
          <a:p xmlns:a="http://schemas.openxmlformats.org/drawingml/2006/main">
            <a:r>
              <a:t>Exit line: If the sketch merely runs, we have output. If you can change it without guessing, you have a program.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https://www.beyng.com/pages/en/BeingandTimeMR/BeingandTimeMR.102.html</a:t>
            </a:r>
          </a:p>
          <a:p xmlns:a="http://schemas.openxmlformats.org/drawingml/2006/main">
            <a:r>
              <a:t>- https://p5js.org/tutorials/field-guide-to-debugging/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available during questions. The deck distinguishes the philosophical analogy from the programming documentation and NASA system-safety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https://www.naur.com/comp/c1-4.html</a:t>
            </a:r>
          </a:p>
          <a:p xmlns:a="http://schemas.openxmlformats.org/drawingml/2006/main">
            <a:r>
              <a:t>- https://p5js.org/reference/p5/setup/</a:t>
            </a:r>
          </a:p>
          <a:p xmlns:a="http://schemas.openxmlformats.org/drawingml/2006/main">
            <a:r>
              <a:t>- https://p5js.org/reference/p5/draw/</a:t>
            </a:r>
          </a:p>
          <a:p xmlns:a="http://schemas.openxmlformats.org/drawingml/2006/main">
            <a:r>
              <a:t>- https://p5js.org/tutorials/variables-and-change/</a:t>
            </a:r>
          </a:p>
          <a:p xmlns:a="http://schemas.openxmlformats.org/drawingml/2006/main">
            <a:r>
              <a:t>- https://p5js.org/tutorials/field-guide-to-debugging/</a:t>
            </a:r>
          </a:p>
          <a:p xmlns:a="http://schemas.openxmlformats.org/drawingml/2006/main">
            <a:r>
              <a:t>- https://p5js.org/tutorials/writing-accessible-canvas-descriptions/</a:t>
            </a:r>
          </a:p>
          <a:p xmlns:a="http://schemas.openxmlformats.org/drawingml/2006/main">
            <a:r>
              <a:t>- https://www.cs.utexas.edu/~EWD/transcriptions/EWD03xx/EWD303.html</a:t>
            </a:r>
          </a:p>
          <a:p xmlns:a="http://schemas.openxmlformats.org/drawingml/2006/main">
            <a:r>
              <a:t>- https://www.beyng.com/pages/en/BeingandTimeMR/BeingandTimeMR.102.html</a:t>
            </a:r>
          </a:p>
          <a:p xmlns:a="http://schemas.openxmlformats.org/drawingml/2006/main">
            <a:r>
              <a:t>- https://ntrs.nasa.gov/citations/20110024177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669765829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c80546775e44c8" /><Relationship Type="http://schemas.openxmlformats.org/officeDocument/2006/relationships/slideLayout" Target="/ppt/slideLayouts/slideLayout1.xml" Id="R82649931a2d542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649931a2d542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6610fba94c5d" /><Relationship Type="http://schemas.openxmlformats.org/officeDocument/2006/relationships/notesSlide" Target="/ppt/notesSlides/notesSlide1.xml" Id="R6fb5267b99f8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1dc49bfb4bae" /><Relationship Type="http://schemas.openxmlformats.org/officeDocument/2006/relationships/notesSlide" Target="/ppt/notesSlides/notesSlide2.xml" Id="Rf78e83b79a49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3b1a754a449b9" /><Relationship Type="http://schemas.openxmlformats.org/officeDocument/2006/relationships/notesSlide" Target="/ppt/notesSlides/notesSlide3.xml" Id="R0917d0ad88b94a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b6b198bcb4428" /><Relationship Type="http://schemas.openxmlformats.org/officeDocument/2006/relationships/image" Target="/ppt/media/image.jpeg" Id="Ra4b7e5093f604720" /><Relationship Type="http://schemas.openxmlformats.org/officeDocument/2006/relationships/notesSlide" Target="/ppt/notesSlides/notesSlide4.xml" Id="R484e897c871f48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64d18df804366" /><Relationship Type="http://schemas.openxmlformats.org/officeDocument/2006/relationships/image" Target="/ppt/media/image.jpeg" Id="R689e069d95a34e89" /><Relationship Type="http://schemas.openxmlformats.org/officeDocument/2006/relationships/notesSlide" Target="/ppt/notesSlides/notesSlide5.xml" Id="Rfd259ac876f44b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65a0b88e94e24" /><Relationship Type="http://schemas.openxmlformats.org/officeDocument/2006/relationships/image" Target="/ppt/media/image2.jpeg" Id="Ra9590494e3d841f1" /><Relationship Type="http://schemas.openxmlformats.org/officeDocument/2006/relationships/notesSlide" Target="/ppt/notesSlides/notesSlide6.xml" Id="R91cd7205db5c4a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be1635cc542d8" /><Relationship Type="http://schemas.openxmlformats.org/officeDocument/2006/relationships/image" Target="/ppt/media/image2.jpeg" Id="Rba71c87f3aaa4645" /><Relationship Type="http://schemas.openxmlformats.org/officeDocument/2006/relationships/notesSlide" Target="/ppt/notesSlides/notesSlide7.xml" Id="Rbefc4ccddbc642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e7b44f75e435a" /><Relationship Type="http://schemas.openxmlformats.org/officeDocument/2006/relationships/image" Target="/ppt/media/image3.jpeg" Id="R1ec62b95680e4b2c" /><Relationship Type="http://schemas.openxmlformats.org/officeDocument/2006/relationships/notesSlide" Target="/ppt/notesSlides/notesSlide8.xml" Id="R7c033ba0771d4b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5f5747d7644a9" /><Relationship Type="http://schemas.openxmlformats.org/officeDocument/2006/relationships/image" Target="/ppt/media/image3.jpeg" Id="R4358ced8e865455e" /><Relationship Type="http://schemas.openxmlformats.org/officeDocument/2006/relationships/notesSlide" Target="/ppt/notesSlides/notesSlide9.xml" Id="Rf229cbd790a24c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7d7c143244f1a" /><Relationship Type="http://schemas.openxmlformats.org/officeDocument/2006/relationships/image" Target="/ppt/media/image4.jpeg" Id="R625a6e74eaa04421" /><Relationship Type="http://schemas.openxmlformats.org/officeDocument/2006/relationships/notesSlide" Target="/ppt/notesSlides/notesSlide10.xml" Id="Re1d48533581b40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3208ddafe4605" /><Relationship Type="http://schemas.openxmlformats.org/officeDocument/2006/relationships/image" Target="/ppt/media/image4.jpeg" Id="R7f5ad950533c4759" /><Relationship Type="http://schemas.openxmlformats.org/officeDocument/2006/relationships/notesSlide" Target="/ppt/notesSlides/notesSlide11.xml" Id="R66373237336b4c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3a99d45734f9e" /><Relationship Type="http://schemas.openxmlformats.org/officeDocument/2006/relationships/notesSlide" Target="/ppt/notesSlides/notesSlide12.xml" Id="R96d527807e1b4b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04edf85b54459" /><Relationship Type="http://schemas.openxmlformats.org/officeDocument/2006/relationships/notesSlide" Target="/ppt/notesSlides/notesSlide13.xml" Id="R8158825186eb41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e38deddcc4a83" /><Relationship Type="http://schemas.openxmlformats.org/officeDocument/2006/relationships/notesSlide" Target="/ppt/notesSlides/notesSlide14.xml" Id="R6cd80a147f014b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5837b53ac4989" /><Relationship Type="http://schemas.openxmlformats.org/officeDocument/2006/relationships/notesSlide" Target="/ppt/notesSlides/notesSlide15.xml" Id="R4d5a40c8b52748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73461d0bc491a" /><Relationship Type="http://schemas.openxmlformats.org/officeDocument/2006/relationships/image" Target="/ppt/media/image5.jpeg" Id="R7cf919b638804bec" /><Relationship Type="http://schemas.openxmlformats.org/officeDocument/2006/relationships/notesSlide" Target="/ppt/notesSlides/notesSlide16.xml" Id="Rb95a835c0147475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75421f8b34477" /><Relationship Type="http://schemas.openxmlformats.org/officeDocument/2006/relationships/notesSlide" Target="/ppt/notesSlides/notesSlide17.xml" Id="R2c5d304c1f2748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67284f6cf4082" /><Relationship Type="http://schemas.openxmlformats.org/officeDocument/2006/relationships/image" Target="/ppt/media/image6.jpeg" Id="Rd834cc7f83ae43cd" /><Relationship Type="http://schemas.openxmlformats.org/officeDocument/2006/relationships/notesSlide" Target="/ppt/notesSlides/notesSlide18.xml" Id="R15f4cd0affe649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c4a28bb254d34" /><Relationship Type="http://schemas.openxmlformats.org/officeDocument/2006/relationships/image" Target="/ppt/media/image7.jpeg" Id="Rfdacf7dc1b5b40a9" /><Relationship Type="http://schemas.openxmlformats.org/officeDocument/2006/relationships/notesSlide" Target="/ppt/notesSlides/notesSlide19.xml" Id="Rd04c3067ae014f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cdbf5fd9442ca" /><Relationship Type="http://schemas.openxmlformats.org/officeDocument/2006/relationships/notesSlide" Target="/ppt/notesSlides/notesSlide20.xml" Id="R6ced1ddad2ed4c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88f85dc94438c" /><Relationship Type="http://schemas.openxmlformats.org/officeDocument/2006/relationships/notesSlide" Target="/ppt/notesSlides/notesSlide21.xml" Id="Rc77b631374d74b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b830113604267" /><Relationship Type="http://schemas.openxmlformats.org/officeDocument/2006/relationships/notesSlide" Target="/ppt/notesSlides/notesSlide22.xml" Id="R0fa16985eec842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e3c28cfe46a9" /><Relationship Type="http://schemas.openxmlformats.org/officeDocument/2006/relationships/notesSlide" Target="/ppt/notesSlides/notesSlide23.xml" Id="Rc05686532c10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8EA93-1E1C-43C4-8AEA-82622AD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B9AE1-C2EE-4C9B-94A2-77B0699A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"/>
            <a:ext cx="342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14909-70B0-41F2-B3D6-132B341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BB39E-FC2F-4155-BA63-044C16B2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9554-9DF0-4743-95BC-353E1D8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71717"/>
                </a:solidFill>
              </a:defRPr>
            </a:pPr>
            <a:r>
              <a:rPr sz="5250" b="1" i="0">
                <a:solidFill>
                  <a:srgbClr val="171717"/>
                </a:solidFill>
              </a:rPr>
              <a:t>CALL YOUR 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72EA3-43E9-4FD5-A831-1C408D2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84F9C"/>
                </a:solidFill>
              </a:defRPr>
            </a:pPr>
            <a:r>
              <a:rPr sz="1950" b="1" i="0">
                <a:solidFill>
                  <a:srgbClr val="184F9C"/>
                </a:solidFill>
              </a:rPr>
              <a:t>PREDICT / RUN / BREAK / REPAIR /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EE50F-41C2-4E05-AD2E-78C078BD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171717"/>
                </a:solidFill>
              </a:defRPr>
            </a:pPr>
            <a:r>
              <a:rPr sz="2250" b="0" i="0">
                <a:solidFill>
                  <a:srgbClr val="171717"/>
                </a:solidFill>
              </a:rPr>
              <a:t>A hostile Hello World lab for people who already think this is stupid.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0C647-5292-444C-90D0-915EC1C3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14CB-7FFF-43EC-B444-B575B623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81250"/>
            <a:ext cx="76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F3547-E00E-4A5F-9850-FD014EF8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76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408DC-845A-4EC7-AEE7-4959E918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0"/>
            <a:ext cx="276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895EE-E36D-47B3-87E3-6D450B3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</a:defRPr>
            </a:pPr>
            <a:r>
              <a:rPr sz="1500" b="0" i="0">
                <a:solidFill>
                  <a:srgbClr val="5F6368"/>
                </a:solidFill>
              </a:rPr>
              <a:t>No grades for confidence. Call the next frame.</a:t>
            </a:r>
          </a:p>
        </p:txBody>
      </p:sp>
    </p:spTree>
    <p:extLst>
      <p:ext uri="{BB962C8B-B14F-4D97-AF65-F5344CB8AC3E}">
        <p14:creationId xmlns:p14="http://schemas.microsoft.com/office/powerpoint/2010/main" val="1430648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748D6-122E-4F48-AEFA-6BE2C52E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CB8A9-61F8-4C44-A3EB-836F1D53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F9BAC-8269-459B-A341-97CDFA9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431B2-B28E-4F85-AB99-8B21EC5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0A1A0-F083-4426-8E58-434FD44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THE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AB2D5-F055-49BE-BB9E-11B13B4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297DD-1AB1-4092-B240-78BF8DDD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1A1F5-FAC0-4841-A7AF-A9DB202A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D926E-DC4B-474C-AD69-084B133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CA975-B8D1-46FA-AC7A-74C862E1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The sketch runs. So what?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7AA89-873A-449F-9334-65364150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</a:defRPr>
            </a:pPr>
            <a:r>
              <a:rPr sz="1500" b="0" i="0">
                <a:solidFill>
                  <a:srgbClr val="5F6368"/>
                </a:solidFill>
              </a:rPr>
              <a:t>Working output can hide copied code, accidental correctness, and a false model of execution.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61B5E-1F73-4185-9898-9928DDE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D9352B"/>
                </a:solidFill>
              </a:defRPr>
            </a:pPr>
            <a:r>
              <a:rPr sz="2400" b="1" i="0">
                <a:solidFill>
                  <a:srgbClr val="D9352B"/>
                </a:solidFill>
              </a:rPr>
              <a:t>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15E00-2A7B-4F68-91A9-ECB8EE8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output appeared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5F043-8ABF-4B34-A2F5-EFADB7FD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84F9C"/>
                </a:solidFill>
              </a:defRPr>
            </a:pPr>
            <a:r>
              <a:rPr sz="2400" b="1" i="0">
                <a:solidFill>
                  <a:srgbClr val="184F9C"/>
                </a:solidFill>
              </a:rPr>
              <a:t>COPIED?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C0DD9-6C5E-49FF-977E-B1886C9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maybe yours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96AEC-D238-478A-A5E9-B309B4D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F2C230"/>
                </a:solidFill>
              </a:defRPr>
            </a:pPr>
            <a:r>
              <a:rPr sz="2400" b="1" i="0">
                <a:solidFill>
                  <a:srgbClr val="F2C230"/>
                </a:solidFill>
              </a:rPr>
              <a:t>PREDICT?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0B4BF-958B-4DE2-B432-2E4BF17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call next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404EF-8114-4BBE-954E-1308FC4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383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71717"/>
                </a:solidFill>
              </a:defRPr>
            </a:pPr>
            <a:r>
              <a:rPr sz="2400" b="1" i="0">
                <a:solidFill>
                  <a:srgbClr val="171717"/>
                </a:solidFill>
              </a:rPr>
              <a:t>REPAIR?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B7512-A337-41AA-B9B8-17014CEE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recover on purpose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695BA-DB30-4F01-9FDF-2B3D2BBE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25CC8-7BD6-44DD-9B5F-AF888BA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71717"/>
                </a:solidFill>
              </a:defRPr>
            </a:pPr>
            <a:r>
              <a:rPr sz="2550" b="1" i="0">
                <a:solidFill>
                  <a:srgbClr val="171717"/>
                </a:solidFill>
              </a:rPr>
              <a:t>Already advanced? Prove control. Brand new? Stop guessing.</a:t>
            </a:r>
          </a:p>
        </p:txBody>
      </p:sp>
    </p:spTree>
    <p:extLst>
      <p:ext uri="{BB962C8B-B14F-4D97-AF65-F5344CB8AC3E}">
        <p14:creationId xmlns:p14="http://schemas.microsoft.com/office/powerpoint/2010/main" val="1720798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483A8-5B7B-4A65-B315-AE44F54D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4C3B7-4F62-4953-A9A1-53CC2653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91949-1F3D-4F98-8FA0-E3D2D8A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58B97-39EB-4486-A44E-338225E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ED71E-2706-462D-8847-61BE48D1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THE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B9036-754E-486B-A156-D6E7BD2A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29156-2CE5-422A-96C3-21816B13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09B4F-0C2B-4E7A-97D3-A95F4BE5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9EB93-B07C-4F23-9A6D-FAC945ED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3780C-A69E-4F51-B556-3025634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The room runs on wagers, not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15FD9-7B8C-4B48-AA51-71E7952D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4F9C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C6A50-F3B7-4084-862E-1C34B233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CAF47-EAEC-4A0E-9B6C-7A8C6290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62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CALL 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2FB05-43F3-4FF7-A53F-78697CE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81175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368"/>
                </a:solidFill>
              </a:defRPr>
            </a:pPr>
            <a:r>
              <a:rPr sz="1725" b="0" i="0">
                <a:solidFill>
                  <a:srgbClr val="5F6368"/>
                </a:solidFill>
              </a:rPr>
              <a:t>Choose the next value or branch.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A5DD4-D4CD-413D-9885-DC25249A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230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839E9-FD7A-4671-8EF8-E884672E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34C8F-470A-48F5-9A66-912C28C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RUN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D774C-F7C5-4426-8A50-597D868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368"/>
                </a:solidFill>
              </a:defRPr>
            </a:pPr>
            <a:r>
              <a:rPr sz="1725" b="0" i="0">
                <a:solidFill>
                  <a:srgbClr val="5F6368"/>
                </a:solidFill>
              </a:rPr>
              <a:t>Compare execution with your claim.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CBF0D-51A5-4E58-9F77-4F94B57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352B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42DA6-B6A2-4511-9AE9-76BEC594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13DA0-18CC-4036-BA56-C0BA519F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62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BREAK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C249B-C310-493C-8B2E-10AF4365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81425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368"/>
                </a:solidFill>
              </a:defRPr>
            </a:pPr>
            <a:r>
              <a:rPr sz="1725" b="0" i="0">
                <a:solidFill>
                  <a:srgbClr val="5F6368"/>
                </a:solidFill>
              </a:rPr>
              <a:t>Force one assumption into 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B231E2-9E75-4ACD-B834-23E8D808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EADAA-A043-44AE-858E-E16FAE2D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DF7"/>
                </a:solidFill>
              </a:defRPr>
            </a:pPr>
            <a:r>
              <a:rPr sz="2100" b="1" i="0">
                <a:solidFill>
                  <a:srgbClr val="FFFDF7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A684C-C929-4AD4-8FC3-5526F58A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CHANGE 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B7F10-A1E8-47BD-8F3F-F33E0B2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815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368"/>
                </a:solidFill>
              </a:defRPr>
            </a:pPr>
            <a:r>
              <a:rPr sz="1725" b="0" i="0">
                <a:solidFill>
                  <a:srgbClr val="5F6368"/>
                </a:solidFill>
              </a:rPr>
              <a:t>Make the program survive a new demand.</a:t>
            </a:r>
          </a:p>
        </p:txBody>
      </p:sp>
    </p:spTree>
    <p:extLst>
      <p:ext uri="{BB962C8B-B14F-4D97-AF65-F5344CB8AC3E}">
        <p14:creationId xmlns:p14="http://schemas.microsoft.com/office/powerpoint/2010/main" val="9864109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114D-0FEC-461A-A04B-FEB61C7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6A3C-CAEB-43D2-9E12-D16BDCD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4A06D-E27C-451F-A976-BFC087BD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B93F7-D997-48E0-AD56-5BE753AF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9AF2C-E0E3-4DC0-ACEB-12A204E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QUIZ 1 —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2A647-10E7-4963-91AE-F86BA777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6B3EA-B66A-4A8A-87A2-3A8AA9D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27B79-838D-4ABA-A2E3-0ACB54C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3ACEF-286F-46A0-A18A-76DCFBB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CD41B-5F2A-454D-8887-B59E58F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What happens after setup() finishes?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6091C-CB0F-4766-99FA-E44EBCD9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READ THE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B3D2A-0BE7-4F7B-9CDA-4242B16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3815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32CCB-9DA8-4288-A9C0-736F103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0005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  background(220);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B5F20-6EE1-483B-86B6-0970971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CHOOSE BEFORE THE CLICK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BD0AE-C04C-4B1F-9996-414E5BF6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61912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7e5093f604720"/>
          <a:stretch xmlns:a="http://schemas.openxmlformats.org/drawingml/2006/main"/>
        </p:blipFill>
        <p:spPr>
          <a:xfrm xmlns:a="http://schemas.openxmlformats.org/drawingml/2006/main">
            <a:off x="5904243" y="2000250"/>
            <a:ext cx="5241265" cy="3219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DF4F0-9161-401B-89C5-4CCD7B9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10680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E7B60-8B63-4B97-992C-841EF854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A  draw() runs once     B  draw() repeats     C  only a click runs it</a:t>
            </a:r>
          </a:p>
        </p:txBody>
      </p:sp>
    </p:spTree>
    <p:extLst>
      <p:ext uri="{BB962C8B-B14F-4D97-AF65-F5344CB8AC3E}">
        <p14:creationId xmlns:p14="http://schemas.microsoft.com/office/powerpoint/2010/main" val="1310997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114D-0FEC-461A-A04B-FEB61C7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E6A3C-CAEB-43D2-9E12-D16BDCD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4A06D-E27C-451F-A976-BFC087BD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B93F7-D997-48E0-AD56-5BE753AF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9AF2C-E0E3-4DC0-ACEB-12A204E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ANSWER 1 —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2A647-10E7-4963-91AE-F86BA777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6B3EA-B66A-4A8A-87A2-3A8AA9D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27B79-838D-4ABA-A2E3-0ACB54C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3ACEF-286F-46A0-A18A-76DCFBB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CD41B-5F2A-454D-8887-B59E58F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Answer B — draw() repeats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6091C-CB0F-4766-99FA-E44EBCD9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THE TEXT HIDES THE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B3D2A-0BE7-4F7B-9CDA-4242B16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3815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32CCB-9DA8-4288-A9C0-736F103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0005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  background(220);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171717"/>
                </a:solidFill>
              </a:defRPr>
            </a:pPr>
            <a:r>
              <a:rPr sz="165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B5F20-6EE1-483B-86B6-09709715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THE FRAME LOOKS STILL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BD0AE-C04C-4B1F-9996-414E5BF6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24050"/>
            <a:ext cx="61912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069d95a34e89"/>
          <a:stretch xmlns:a="http://schemas.openxmlformats.org/drawingml/2006/main"/>
        </p:blipFill>
        <p:spPr>
          <a:xfrm xmlns:a="http://schemas.openxmlformats.org/drawingml/2006/main">
            <a:off x="5904243" y="2000250"/>
            <a:ext cx="5241265" cy="32194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DF4F0-9161-401B-89C5-4CCD7B9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10680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0E7B60-8B63-4B97-992C-841EF854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setup() builds the stage once. draw() keeps performing the scene.</a:t>
            </a:r>
          </a:p>
        </p:txBody>
      </p:sp>
    </p:spTree>
    <p:extLst>
      <p:ext uri="{BB962C8B-B14F-4D97-AF65-F5344CB8AC3E}">
        <p14:creationId xmlns:p14="http://schemas.microsoft.com/office/powerpoint/2010/main" val="1310997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C3A4B-9DF6-4C58-8B76-8F544A2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1F34E-BEEA-4B2E-AFBB-92A9D97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F1B0C-B2F6-46BF-AE0E-A58F601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543F-0E38-495B-854D-0659985F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70666-C6BB-4184-BF1D-C0D80A69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QUIZ 2 —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2F48-D3A4-4A5C-AA43-B0F20FF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C4156-F39B-43D1-883D-443D8BF6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8DA5-A2B0-4FAE-9138-01D35BF5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39E15-71C3-4232-9D2F-299B826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2B176-B65C-4447-AEA1-5B391D5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What carries information into the next frame?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4B603-8A9B-4E72-A1A7-C665405D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READ THE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5AF3C-5C43-4781-A70D-27F8EFC1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7625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38998-2758-4400-BF5C-8E3D970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3815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let x = 40;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fill(217, 53, 43);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rect(x, 60, 80, 80);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x = x + 18;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F794F-CA6F-460E-B2D6-897CE9B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19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CHOOSE BEFORE THE CLICK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86F06-293E-4393-A83E-6A150494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58864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90494e3d841f1"/>
          <a:stretch xmlns:a="http://schemas.openxmlformats.org/drawingml/2006/main"/>
        </p:blipFill>
        <p:spPr>
          <a:xfrm xmlns:a="http://schemas.openxmlformats.org/drawingml/2006/main">
            <a:off x="6397790" y="2000250"/>
            <a:ext cx="4558970" cy="2800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5CC93-449D-4CD2-B559-9439567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95875"/>
            <a:ext cx="5886450" cy="6572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184F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DEABB-4152-4632-A6D6-20DA238A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7685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4F9C"/>
                </a:solidFill>
              </a:defRPr>
            </a:pPr>
            <a:r>
              <a:rPr sz="1875" b="1" i="0">
                <a:solidFill>
                  <a:srgbClr val="184F9C"/>
                </a:solidFill>
              </a:rPr>
              <a:t>A  PIXELS       B  x       C  setup()</a:t>
            </a:r>
          </a:p>
        </p:txBody>
      </p:sp>
    </p:spTree>
    <p:extLst>
      <p:ext uri="{BB962C8B-B14F-4D97-AF65-F5344CB8AC3E}">
        <p14:creationId xmlns:p14="http://schemas.microsoft.com/office/powerpoint/2010/main" val="889317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C3A4B-9DF6-4C58-8B76-8F544A25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1F34E-BEEA-4B2E-AFBB-92A9D972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F1B0C-B2F6-46BF-AE0E-A58F601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543F-0E38-495B-854D-0659985F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70666-C6BB-4184-BF1D-C0D80A69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ANSWER 2 —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2F48-D3A4-4A5C-AA43-B0F20FF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C4156-F39B-43D1-883D-443D8BF6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08DA5-A2B0-4FAE-9138-01D35BF5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39E15-71C3-4232-9D2F-299B826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2B176-B65C-4447-AEA1-5B391D5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Answer B — x carries the past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4B603-8A9B-4E72-A1A7-C665405D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STATE SURVIVES THE 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5AF3C-5C43-4781-A70D-27F8EFC1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7625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38998-2758-4400-BF5C-8E3D9700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3815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let x = 40;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fill(217, 53, 43);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rect(x, 60, 80, 80);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  x = x + 18;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71717"/>
                </a:solidFill>
              </a:defRPr>
            </a:pPr>
            <a:r>
              <a:rPr sz="135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F794F-CA6F-460E-B2D6-897CE9B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19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WATCH x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86F06-293E-4393-A83E-6A150494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58864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1c87f3aaa4645"/>
          <a:stretch xmlns:a="http://schemas.openxmlformats.org/drawingml/2006/main"/>
        </p:blipFill>
        <p:spPr>
          <a:xfrm xmlns:a="http://schemas.openxmlformats.org/drawingml/2006/main">
            <a:off x="6397790" y="2000250"/>
            <a:ext cx="4558970" cy="2800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5CC93-449D-4CD2-B559-9439567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95875"/>
            <a:ext cx="5886450" cy="6572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184F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DEABB-4152-4632-A6D6-20DA238A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7685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84F9C"/>
                </a:solidFill>
              </a:defRPr>
            </a:pPr>
            <a:r>
              <a:rPr sz="1875" b="1" i="0">
                <a:solidFill>
                  <a:srgbClr val="184F9C"/>
                </a:solidFill>
              </a:rPr>
              <a:t>PIXELS FORGET. x REMEMBERS.</a:t>
            </a:r>
          </a:p>
        </p:txBody>
      </p:sp>
    </p:spTree>
    <p:extLst>
      <p:ext uri="{BB962C8B-B14F-4D97-AF65-F5344CB8AC3E}">
        <p14:creationId xmlns:p14="http://schemas.microsoft.com/office/powerpoint/2010/main" val="889317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BF02F-2314-4895-9E0F-027BA5D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E46DA-EA36-40A8-A0F6-B737F34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526C4-33A4-44E3-A1EF-159B9DB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244F-50D3-45BB-906E-BEAB280F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EBE95-D42A-48C1-ACB2-EA9D292D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QUIZ 3 — 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2C5AE-46A5-475B-93DB-F2061C2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78E75-944C-4ECF-AF24-FF0D52B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9BC54-D89F-4A6B-82AA-1CC98681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9C24F-D302-41AF-9209-58F6E440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4C1C1-950F-43C6-AD48-29982E66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Which program moves left next?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3594F-2625-489C-898B-591ACE30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62b95680e4b2c"/>
          <a:stretch xmlns:a="http://schemas.openxmlformats.org/drawingml/2006/main"/>
        </p:blipFill>
        <p:spPr>
          <a:xfrm xmlns:a="http://schemas.openxmlformats.org/drawingml/2006/main">
            <a:off x="749465" y="1676400"/>
            <a:ext cx="4558970" cy="2800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7B541-B5AE-4168-8A03-C51D5798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0200"/>
            <a:ext cx="2724150" cy="4000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E1B4B-5AA9-4366-B581-A3514825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23431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x = 150;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velocity =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rect(x, 60, 80, 80);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83221-5F6F-4A3F-9789-5EED5D8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724150" cy="4000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BE635-F951-4444-9246-7F7A24B7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431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x = 150;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velocity = -1;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rect(x, 60, 80, 80);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DF6B0-8399-42EA-8776-69352187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34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4F9C"/>
                </a:solidFill>
              </a:defRPr>
            </a:pPr>
            <a:r>
              <a:rPr sz="1350" b="1" i="0">
                <a:solidFill>
                  <a:srgbClr val="184F9C"/>
                </a:solidFill>
              </a:rPr>
              <a:t>PROGRAM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66BF4-9478-4873-825C-527F09AF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34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352B"/>
                </a:solidFill>
              </a:defRPr>
            </a:pPr>
            <a:r>
              <a:rPr sz="1350" b="1" i="0">
                <a:solidFill>
                  <a:srgbClr val="D9352B"/>
                </a:solidFill>
              </a:rPr>
              <a:t>PROGRAM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2D100-F03D-4577-AAB3-6E11753E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A             B             BOTH</a:t>
            </a:r>
          </a:p>
        </p:txBody>
      </p:sp>
    </p:spTree>
    <p:extLst>
      <p:ext uri="{BB962C8B-B14F-4D97-AF65-F5344CB8AC3E}">
        <p14:creationId xmlns:p14="http://schemas.microsoft.com/office/powerpoint/2010/main" val="1596836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BF02F-2314-4895-9E0F-027BA5DC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E46DA-EA36-40A8-A0F6-B737F34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526C4-33A4-44E3-A1EF-159B9DBA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0244F-50D3-45BB-906E-BEAB280F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EBE95-D42A-48C1-ACB2-EA9D292D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ANSWER 3 — FUTURE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2C5AE-46A5-475B-93DB-F2061C2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78E75-944C-4ECF-AF24-FF0D52B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9BC54-D89F-4A6B-82AA-1CC98681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9C24F-D302-41AF-9209-58F6E440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4C1C1-950F-43C6-AD48-29982E66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Answer B — the next frame exposes the difference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3594F-2625-489C-898B-591ACE30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8ced8e865455e"/>
          <a:stretch xmlns:a="http://schemas.openxmlformats.org/drawingml/2006/main"/>
        </p:blipFill>
        <p:spPr>
          <a:xfrm xmlns:a="http://schemas.openxmlformats.org/drawingml/2006/main">
            <a:off x="749465" y="1676400"/>
            <a:ext cx="4558970" cy="2800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7B541-B5AE-4168-8A03-C51D5798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0200"/>
            <a:ext cx="2724150" cy="4000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E1B4B-5AA9-4366-B581-A3514825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23431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x = 150;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velocity =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rect(x, 60, 80, 80);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83221-5F6F-4A3F-9789-5EED5D8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724150" cy="40005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BE635-F951-4444-9246-7F7A24B7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23431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x = 150;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velocity = -1;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rect(x, 60, 80, 80);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0DF6B0-8399-42EA-8776-69352187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34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84F9C"/>
                </a:solidFill>
              </a:defRPr>
            </a:pPr>
            <a:r>
              <a:rPr sz="1350" b="1" i="0">
                <a:solidFill>
                  <a:srgbClr val="184F9C"/>
                </a:solidFill>
              </a:rPr>
              <a:t>PROGRAM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866BF4-9478-4873-825C-527F09AF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34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352B"/>
                </a:solidFill>
              </a:defRPr>
            </a:pPr>
            <a:r>
              <a:rPr sz="1350" b="1" i="0">
                <a:solidFill>
                  <a:srgbClr val="D9352B"/>
                </a:solidFill>
              </a:rPr>
              <a:t>PROGRAM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2D100-F03D-4577-AAB3-6E11753E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CURRENT PIXELS CONCEAL FUTURE BEHAVIOR.</a:t>
            </a:r>
          </a:p>
        </p:txBody>
      </p:sp>
    </p:spTree>
    <p:extLst>
      <p:ext uri="{BB962C8B-B14F-4D97-AF65-F5344CB8AC3E}">
        <p14:creationId xmlns:p14="http://schemas.microsoft.com/office/powerpoint/2010/main" val="15968364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BFBB7-43C4-46AE-A29C-E6512D1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30BF6-F7E0-4107-A287-AE2CF9F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B98EE-0790-47A4-8356-C37377B9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4E592-6621-4341-A6EF-B8E6F12A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5F98F-F409-40A8-9581-4B5B357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QUIZ 4 —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722A-5665-47E6-9ACC-0B9E63AD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B043A-4952-4150-BF1C-ACEF830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B2CC6-3F6C-4E9C-A00B-0012C212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C5749-B2D6-477A-93D8-E19F8BAB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1F8CC-B1D6-4C2A-B37D-CC2E18A8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When should the rectangle turn around?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D8C4-DC63-4D05-A8DE-51B2D4F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THE CODE TESTS x &gt; width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D4306-94C4-43F3-8E4C-7CF66D36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4762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35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5B29C-AA53-4AF3-A342-F87E3D7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381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let x = 40;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let velocity = 2;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const w = 80;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rect(x, 60, w, 80);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if (x &gt; width)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  velocity *= -1;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AFF6E-7053-4B32-94B2-8B73A2C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66900"/>
            <a:ext cx="5886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a6e74eaa04421"/>
          <a:stretch xmlns:a="http://schemas.openxmlformats.org/drawingml/2006/main"/>
        </p:blipFill>
        <p:spPr>
          <a:xfrm xmlns:a="http://schemas.openxmlformats.org/drawingml/2006/main">
            <a:off x="6475324" y="1943100"/>
            <a:ext cx="4403903" cy="2705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3DCAE-008F-481B-B30E-494C2E5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53000"/>
            <a:ext cx="5886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B0470-5FBE-4D7C-B5EE-ADE860C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5302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A  x&gt;width     B  x+w&gt;=width     C  x=0</a:t>
            </a:r>
          </a:p>
        </p:txBody>
      </p:sp>
    </p:spTree>
    <p:extLst>
      <p:ext uri="{BB962C8B-B14F-4D97-AF65-F5344CB8AC3E}">
        <p14:creationId xmlns:p14="http://schemas.microsoft.com/office/powerpoint/2010/main" val="1362273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BFBB7-43C4-46AE-A29C-E6512D1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30BF6-F7E0-4107-A287-AE2CF9F4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B98EE-0790-47A4-8356-C37377B9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4E592-6621-4341-A6EF-B8E6F12A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5F98F-F409-40A8-9581-4B5B357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ANSWER 4 —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722A-5665-47E6-9ACC-0B9E63AD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B043A-4952-4150-BF1C-ACEF830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B2CC6-3F6C-4E9C-A00B-0012C212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C5749-B2D6-477A-93D8-E19F8BAB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1F8CC-B1D6-4C2A-B37D-CC2E18A8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Answer B — the right edge is x + 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D8C4-DC63-4D05-A8DE-51B2D4F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THE BUG REVEALS THE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D4306-94C4-43F3-8E4C-7CF66D36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4762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35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5B29C-AA53-4AF3-A342-F87E3D7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4381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let x = 40;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let velocity = 2;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const w = 80;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rect(x, 60, w, 80);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if (x &gt; width)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  velocity *= -1;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AFF6E-7053-4B32-94B2-8B73A2C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66900"/>
            <a:ext cx="58864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ad950533c4759"/>
          <a:stretch xmlns:a="http://schemas.openxmlformats.org/drawingml/2006/main"/>
        </p:blipFill>
        <p:spPr>
          <a:xfrm xmlns:a="http://schemas.openxmlformats.org/drawingml/2006/main">
            <a:off x="6475324" y="1943100"/>
            <a:ext cx="4403903" cy="2705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3DCAE-008F-481B-B30E-494C2E5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53000"/>
            <a:ext cx="58864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B0470-5FBE-4D7C-B5EE-ADE860C2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5302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The code confused the object's position with the object's full extent.</a:t>
            </a:r>
          </a:p>
        </p:txBody>
      </p:sp>
    </p:spTree>
    <p:extLst>
      <p:ext uri="{BB962C8B-B14F-4D97-AF65-F5344CB8AC3E}">
        <p14:creationId xmlns:p14="http://schemas.microsoft.com/office/powerpoint/2010/main" val="1362273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7F6B7-CECA-4B3F-9FCD-1A481F22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3736C-68F8-460C-AFA2-D1E4483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286D6-E01D-4E67-AFFD-690AEFC6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2860A-73F7-40DF-BA1C-B4C6B0CA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0EB0C-3B63-4CC6-9B0F-629F2814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READ THE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DBB34-3423-42B9-B7B8-FD1F202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C2089-7D53-46A9-8832-A18B88E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30BEA-DE45-45CF-AE88-A3A902CD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BA4E4-E86D-4D57-876A-741DCA56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21693-BB53-43DD-A73B-78BDBEBB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An error names the operation that stopped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31183-3048-4EA7-ADC6-9307BBE9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</a:defRPr>
            </a:pPr>
            <a:r>
              <a:rPr sz="1500" b="0" i="0">
                <a:solidFill>
                  <a:srgbClr val="5F6368"/>
                </a:solidFill>
              </a:rPr>
              <a:t>Read it as a failure report: stopped operation, broken condition, preserved state, recovery.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2E687-0FA5-41A5-836E-D49FB5A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680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2F051-E790-494E-85C3-1EB512E6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9352B"/>
                </a:solidFill>
              </a:defRPr>
            </a:pPr>
            <a:r>
              <a:rPr sz="1275" b="1" i="0">
                <a:solidFill>
                  <a:srgbClr val="D9352B"/>
                </a:solidFill>
              </a:rPr>
              <a:t>REFERENCEERROR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5C3F5-BCBF-4174-ADDD-9EB8FCA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DF7"/>
                </a:solidFill>
              </a:defRPr>
            </a:pPr>
            <a:r>
              <a:rPr sz="2250" b="1" i="0">
                <a:solidFill>
                  <a:srgbClr val="FFFDF7"/>
                </a:solidFill>
              </a:rPr>
              <a:t>refresh is not defined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6B735-4CE1-4C97-B5F2-2AC39F85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8873B-1E73-41FD-AB66-2234842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C230"/>
                </a:solidFill>
              </a:defRPr>
            </a:pPr>
            <a:r>
              <a:rPr sz="1125" b="1" i="0">
                <a:solidFill>
                  <a:srgbClr val="F2C230"/>
                </a:solidFill>
              </a:rPr>
              <a:t>OPERATION STOPPED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1C99C-481D-4646-AC31-C1F4CD80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DF7"/>
                </a:solidFill>
              </a:defRPr>
            </a:pPr>
            <a:r>
              <a:rPr sz="1350" b="0" i="0">
                <a:solidFill>
                  <a:srgbClr val="FFFDF7"/>
                </a:solidFill>
              </a:rPr>
              <a:t>refresh preview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99F91-F243-4670-A49C-4575340A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C230"/>
                </a:solidFill>
              </a:defRPr>
            </a:pPr>
            <a:r>
              <a:rPr sz="1125" b="1" i="0">
                <a:solidFill>
                  <a:srgbClr val="F2C230"/>
                </a:solidFill>
              </a:rPr>
              <a:t>FIRST BROKEN CONDITION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2BF8E-9E09-42D0-AFA3-92BAE7EC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DF7"/>
                </a:solidFill>
              </a:defRPr>
            </a:pPr>
            <a:r>
              <a:rPr sz="1350" b="0" i="0">
                <a:solidFill>
                  <a:srgbClr val="FFFDF7"/>
                </a:solidFill>
              </a:rPr>
              <a:t>required operation missing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2E135-7CEA-4743-B1DF-DE890F54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C230"/>
                </a:solidFill>
              </a:defRPr>
            </a:pPr>
            <a:r>
              <a:rPr sz="1125" b="1" i="0">
                <a:solidFill>
                  <a:srgbClr val="F2C230"/>
                </a:solidFill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9D4C5-E064-44B6-B18E-6D5F7316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95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DF7"/>
                </a:solidFill>
              </a:defRPr>
            </a:pPr>
            <a:r>
              <a:rPr sz="1350" b="0" i="0">
                <a:solidFill>
                  <a:srgbClr val="FFFDF7"/>
                </a:solidFill>
              </a:rPr>
              <a:t>source captured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32AD4-0091-481A-B222-2885C8A8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C230"/>
                </a:solidFill>
              </a:defRPr>
            </a:pPr>
            <a:r>
              <a:rPr sz="1125" b="1" i="0">
                <a:solidFill>
                  <a:srgbClr val="F2C230"/>
                </a:solidFill>
              </a:rPr>
              <a:t>NOT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8CF5A-265E-4608-9E6F-87AFC6D9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DF7"/>
                </a:solidFill>
              </a:defRPr>
            </a:pPr>
            <a:r>
              <a:rPr sz="1350" b="0" i="0">
                <a:solidFill>
                  <a:srgbClr val="FFFDF7"/>
                </a:solidFill>
              </a:rPr>
              <a:t>canvas rebuilt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0D31F-94EA-4169-9BAD-63D0FEB1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C230"/>
                </a:solidFill>
              </a:defRPr>
            </a:pPr>
            <a:r>
              <a:rPr sz="1125" b="1" i="0">
                <a:solidFill>
                  <a:srgbClr val="F2C230"/>
                </a:solidFill>
              </a:rPr>
              <a:t>STATE PRESERVED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B1C4F-B5E6-4F7E-BF91-BA58C10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DF7"/>
                </a:solidFill>
              </a:defRPr>
            </a:pPr>
            <a:r>
              <a:rPr sz="1350" b="0" i="0">
                <a:solidFill>
                  <a:srgbClr val="FFFDF7"/>
                </a:solidFill>
              </a:rPr>
              <a:t>editor 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A8411-BD1C-4BAC-9682-10209817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81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2C230"/>
                </a:solidFill>
              </a:defRPr>
            </a:pPr>
            <a:r>
              <a:rPr sz="1125" b="1" i="0">
                <a:solidFill>
                  <a:srgbClr val="F2C230"/>
                </a:solidFill>
              </a:rPr>
              <a:t>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C14E7-012A-483F-BCF1-9D387386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DF7"/>
                </a:solidFill>
              </a:defRPr>
            </a:pPr>
            <a:r>
              <a:rPr sz="1350" b="0" i="0">
                <a:solidFill>
                  <a:srgbClr val="FFFDF7"/>
                </a:solidFill>
              </a:rPr>
              <a:t>define refresh or disable the control</a:t>
            </a:r>
          </a:p>
        </p:txBody>
      </p:sp>
    </p:spTree>
    <p:extLst>
      <p:ext uri="{BB962C8B-B14F-4D97-AF65-F5344CB8AC3E}">
        <p14:creationId xmlns:p14="http://schemas.microsoft.com/office/powerpoint/2010/main" val="18978511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BAD2E-105A-48C9-842C-43DED9AE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A86E5-7950-4007-9741-A5372190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A4B2D-DDF7-40F0-B054-B1731753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54468-FEE9-4F42-B632-0B963608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71AC1-D8E3-4AF9-A3F7-7D1A7F3A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READ THE ABSENCE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285E4-94C7-4171-86BC-BBC3663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00C9B-4CC8-4C00-9521-DFF1E3FC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CE1E6-7044-4659-9857-B31F30F3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7867F-8AAA-4E15-B44C-771EAE67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90BD6-8617-4FB1-A79B-54BC5EF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Debug the operation that never ran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E7C78-716E-430A-B694-EB5DFA33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Breakdown reveals what participated.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B9702-497F-4A95-8995-818FD17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84F9C"/>
                </a:solidFill>
              </a:defRPr>
            </a:pPr>
            <a:r>
              <a:rPr sz="2325" b="1" i="0">
                <a:solidFill>
                  <a:srgbClr val="184F9C"/>
                </a:solidFill>
              </a:rPr>
              <a:t>Negative space reveals what was absent.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7D0B1-5A0C-4B6E-B4E3-91C69D4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9352B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A7C4E-A5D2-4341-AF26-19485A0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WHAT RAN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7238C-2C5F-4A84-9456-9CA6CDCD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171717"/>
                </a:solidFill>
              </a:defRPr>
            </a:pPr>
            <a:r>
              <a:rPr sz="1875" b="0" i="0">
                <a:solidFill>
                  <a:srgbClr val="171717"/>
                </a:solidFill>
              </a:rPr>
              <a:t>event handler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171717"/>
                </a:solidFill>
              </a:defRPr>
            </a:pPr>
            <a:r>
              <a:rPr sz="1875" b="0" i="0">
                <a:solidFill>
                  <a:srgbClr val="171717"/>
                </a:solidFill>
              </a:rPr>
              <a:t>state update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171717"/>
                </a:solidFill>
              </a:defRPr>
            </a:pPr>
            <a:r>
              <a:rPr sz="1875" b="0" i="0">
                <a:solidFill>
                  <a:srgbClr val="171717"/>
                </a:solidFill>
              </a:rPr>
              <a:t>boundary test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171717"/>
                </a:solidFill>
              </a:defRPr>
            </a:pPr>
            <a:r>
              <a:rPr sz="1875" b="0" i="0">
                <a:solidFill>
                  <a:srgbClr val="171717"/>
                </a:solidFill>
              </a:rPr>
              <a:t>render 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68DB8-C16E-413C-B3FB-5476FE01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E2442-5C10-453B-80B0-C8E0DF79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4F9C"/>
                </a:solidFill>
              </a:defRPr>
            </a:pPr>
            <a:r>
              <a:rPr sz="1650" b="1" i="0">
                <a:solidFill>
                  <a:srgbClr val="184F9C"/>
                </a:solidFill>
              </a:rPr>
              <a:t>WHAT NEVER RAN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FC3E9-4D44-4F72-A065-AB2D50C4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</a:defRPr>
            </a:pPr>
            <a:r>
              <a:rPr sz="1875" b="0" i="0">
                <a:solidFill>
                  <a:srgbClr val="5F6368"/>
                </a:solidFill>
              </a:rPr>
              <a:t>validation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</a:defRPr>
            </a:pPr>
            <a:r>
              <a:rPr sz="1875" b="0" i="0">
                <a:solidFill>
                  <a:srgbClr val="5F6368"/>
                </a:solidFill>
              </a:rPr>
              <a:t>missing event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</a:defRPr>
            </a:pPr>
            <a:r>
              <a:rPr sz="1875" b="0" i="0">
                <a:solidFill>
                  <a:srgbClr val="5F6368"/>
                </a:solidFill>
              </a:rPr>
              <a:t>rejected branch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5F6368"/>
                </a:solidFill>
              </a:defRPr>
            </a:pPr>
            <a:r>
              <a:rPr sz="1875" b="0" i="0">
                <a:solidFill>
                  <a:srgbClr val="5F6368"/>
                </a:solidFill>
              </a:rPr>
              <a:t>recovery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F15EC-7DFB-4E3C-9F19-22366998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71717"/>
                </a:solidFill>
              </a:defRPr>
            </a:pPr>
            <a:r>
              <a:rPr sz="2025" b="1" i="0">
                <a:solidFill>
                  <a:srgbClr val="171717"/>
                </a:solidFill>
              </a:rPr>
              <a:t>ASK: WHAT SHOULD HAVE HAPPENED—BUT DID NOT?</a:t>
            </a:r>
          </a:p>
        </p:txBody>
      </p:sp>
    </p:spTree>
    <p:extLst>
      <p:ext uri="{BB962C8B-B14F-4D97-AF65-F5344CB8AC3E}">
        <p14:creationId xmlns:p14="http://schemas.microsoft.com/office/powerpoint/2010/main" val="18417214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FBB37-EF25-4B14-8244-AE1D1450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CC6FD-D053-43EC-B99C-95A6E3C8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BCB8B-FE3F-49C8-AEA6-F4788C5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6DA65-FD4D-40E8-83F0-CB85A65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AB519-47A2-43E7-A2CC-E8B77DEC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0A2A0-682F-4F22-B07C-380AF5A0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F7360-18BB-4652-ABD0-9A55975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44EAC-7D9D-4977-B190-8AA34998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F5AE9-D110-4FA5-A3A6-FE86225A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63EDA-6D84-45EC-B677-6272ECF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Repair the rule, not the bruise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75B8E-5376-402B-951F-589D0A1B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19125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405D2-25BC-49BE-824F-ED23C01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581025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x = 40;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let velocity = 2;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const w = 80;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rect(x, 60, w, 80);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x += 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if (x + w &gt;= width)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  x = width - w;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  velocity = -abs(velocity);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} else if (x &lt;= 0) {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  x = 0;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  velocity = abs(velocity);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1717"/>
                </a:solidFill>
              </a:defRPr>
            </a:pPr>
            <a:r>
              <a:rPr sz="1200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917A1-5425-49BF-85BF-377164F5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2C230"/>
                </a:solidFill>
              </a:defRPr>
            </a:pPr>
            <a:r>
              <a:rPr sz="1050" b="1" i="0">
                <a:solidFill>
                  <a:srgbClr val="F2C230"/>
                </a:solidFill>
              </a:rPr>
              <a:t>GEOMETRIC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8BEF6-DDA2-4EF1-86D2-B05A3BA4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84F9C"/>
                </a:solidFill>
              </a:defRPr>
            </a:pPr>
            <a:r>
              <a:rPr sz="2850" b="1" i="0">
                <a:solidFill>
                  <a:srgbClr val="184F9C"/>
                </a:solidFill>
              </a:rPr>
              <a:t>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228F3-898C-47A8-9525-36FF632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left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34CE5-7A54-4E3B-9738-2FD6496E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D9352B"/>
                </a:solidFill>
              </a:defRPr>
            </a:pPr>
            <a:r>
              <a:rPr sz="2850" b="1" i="0">
                <a:solidFill>
                  <a:srgbClr val="D9352B"/>
                </a:solidFill>
              </a:rPr>
              <a:t>x + 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26C32-487F-4E1C-8C15-1AF01288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F6368"/>
                </a:solidFill>
              </a:defRPr>
            </a:pPr>
            <a:r>
              <a:rPr sz="1650" b="0" i="0">
                <a:solidFill>
                  <a:srgbClr val="5F6368"/>
                </a:solidFill>
              </a:rPr>
              <a:t>right 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CAD61-7E36-4F0F-B927-4767D16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4000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854E1-F25A-4E8A-838E-47761D38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86200"/>
            <a:ext cx="3543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INVARIANT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171717"/>
                </a:solidFill>
              </a:defRPr>
            </a:pPr>
            <a:r>
              <a:rPr sz="2100" b="1" i="0">
                <a:solidFill>
                  <a:srgbClr val="171717"/>
                </a:solidFill>
              </a:rPr>
              <a:t>0 ≤ x ≤ width - 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9009D-69E0-4BC1-BA30-BB477697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368"/>
                </a:solidFill>
              </a:defRPr>
            </a:pPr>
            <a:r>
              <a:rPr sz="1725" b="0" i="0">
                <a:solidFill>
                  <a:srgbClr val="5F6368"/>
                </a:solidFill>
              </a:rPr>
              <a:t>The repaired boundary restores both position and direction.</a:t>
            </a:r>
          </a:p>
        </p:txBody>
      </p:sp>
    </p:spTree>
    <p:extLst>
      <p:ext uri="{BB962C8B-B14F-4D97-AF65-F5344CB8AC3E}">
        <p14:creationId xmlns:p14="http://schemas.microsoft.com/office/powerpoint/2010/main" val="8318784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EEE0E-50D6-42A3-BDCF-3BA0D612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B8C4F-27C9-45C9-9039-05BA010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1F7E2-09A3-43C7-B71D-C6952279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A5EE8-183D-47CA-AF92-6220ADB1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29DD5-CDF2-4556-A1C8-BCDECF98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0095-5D76-4682-912D-0F377BC8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4FD48-7403-41B8-9B27-3FA64C0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801CA-4B01-4021-B858-F95157C6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4932A-E7C9-4C9E-9368-4B4AF97B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7CF97-C6B0-431C-945D-4DB521F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 prompt is a contract for behavior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20C1C-E993-4907-A5F6-27A4CE1A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10680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184F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30E68-6F7F-495E-AB9C-7399F35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346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1717"/>
                </a:solidFill>
              </a:defRPr>
            </a:pPr>
            <a:r>
              <a:rPr sz="1425" b="0" i="0">
                <a:solidFill>
                  <a:srgbClr val="171717"/>
                </a:solidFill>
              </a:rPr>
              <a:t>Build one complete p5.js sketch.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1717"/>
                </a:solidFill>
              </a:defRPr>
            </a:pPr>
            <a:r>
              <a:rPr sz="1425" b="0" i="0">
                <a:solidFill>
                  <a:srgbClr val="171717"/>
                </a:solidFill>
              </a:rPr>
              <a:t>PURPOSE — move one rectangle; keep every pixel inside.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1717"/>
                </a:solidFill>
              </a:defRPr>
            </a:pPr>
            <a:r>
              <a:rPr sz="1425" b="0" i="0">
                <a:solidFill>
                  <a:srgbClr val="171717"/>
                </a:solidFill>
              </a:rPr>
              <a:t>STATE — x, y, width, height, velocity</a:t>
            </a:r>
          </a:p>
          <a:p xmlns:a="http://schemas.openxmlformats.org/drawingml/2006/main">
            <a:r>
              <a:t>LOOP — draw → move → test → reverse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1717"/>
                </a:solidFill>
              </a:defRPr>
            </a:pPr>
            <a:r>
              <a:rPr sz="1425" b="0" i="0">
                <a:solidFill>
                  <a:srgbClr val="171717"/>
                </a:solidFill>
              </a:rPr>
              <a:t>INVARIANT — 0 ≤ x ≤ canvas width - rectangle width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1717"/>
                </a:solidFill>
              </a:defRPr>
            </a:pPr>
            <a:r>
              <a:rPr sz="1425" b="0" i="0">
                <a:solidFill>
                  <a:srgbClr val="171717"/>
                </a:solidFill>
              </a:rPr>
              <a:t>FAILURE — name operation, condition, preserved state, recovery.</a:t>
            </a:r>
          </a:p>
          <a:p xmlns:a="http://schemas.openxmlformats.org/drawingml/2006/main">
            <a:r>
              <a:t>DELIVER — runnable code + rule-to-code map.</a:t>
            </a:r>
          </a:p>
        </p:txBody>
      </p:sp>
    </p:spTree>
    <p:extLst>
      <p:ext uri="{BB962C8B-B14F-4D97-AF65-F5344CB8AC3E}">
        <p14:creationId xmlns:p14="http://schemas.microsoft.com/office/powerpoint/2010/main" val="12658488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B4D6D-6531-4689-BBB3-7FA544C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C4F7E-B64F-44FE-B2F8-A772547A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16222-3FC1-4025-ACC7-3B827B67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0270A-2975-4E64-9677-999CF20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C105E-4CDE-49E8-B84B-10B7CB94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AI-GENERATED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2A6CD-0F9E-42A0-9E6B-9FF9DCE9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273B3-A53C-4A50-89F0-28345EAF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BC73B-F7D0-43CE-BF45-62A0A15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E2423-93A1-47CC-A4C8-91F785FA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9936C-7674-45DF-BEDB-A64FED5E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Generated code is borrowed until audited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65276-A3AA-483F-8E79-37C86CD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1435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CCB07-9798-48DB-8FD5-28BED57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476250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let x = 40;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let speed = 3;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const w = 60;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background(240);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fill(217, 53, 43);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rect(x, 70, w, 60);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if (x + speed &lt; 0 || x + speed + w &gt; width) {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  speed *= -1;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  x += speed;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1717"/>
                </a:solidFill>
              </a:defRPr>
            </a:pPr>
            <a:r>
              <a:rPr sz="1275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328D0-1BA7-423B-9570-75C0E641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19250"/>
            <a:ext cx="55054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919b638804bec"/>
          <a:stretch xmlns:a="http://schemas.openxmlformats.org/drawingml/2006/main"/>
        </p:blipFill>
        <p:spPr>
          <a:xfrm xmlns:a="http://schemas.openxmlformats.org/drawingml/2006/main">
            <a:off x="6758864" y="1695450"/>
            <a:ext cx="4217822" cy="25908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0767B-5889-4C2D-A69C-7EA4ECC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550545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C1255-DE42-4C0A-9C0B-8575E5A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84F9C"/>
                </a:solidFill>
              </a:defRPr>
            </a:pPr>
            <a:r>
              <a:rPr sz="1200" b="1" i="0">
                <a:solidFill>
                  <a:srgbClr val="184F9C"/>
                </a:solidFill>
              </a:rPr>
              <a:t>OWNERSHIP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60456-DD55-4BAB-8D0F-FE3DE49E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244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Which rule keeps it inside?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Why is speed signed?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Where does the diagram disagree?</a:t>
            </a:r>
          </a:p>
        </p:txBody>
      </p:sp>
    </p:spTree>
    <p:extLst>
      <p:ext uri="{BB962C8B-B14F-4D97-AF65-F5344CB8AC3E}">
        <p14:creationId xmlns:p14="http://schemas.microsoft.com/office/powerpoint/2010/main" val="14675103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9F5EB-8B5E-414A-9858-55339EE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E1433-4857-4BA6-9AB0-9827023E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D911F-C370-4309-A984-498457E4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894BB-043D-4EA1-A36E-9C7CAD2B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1538-2EEF-464C-A097-84EE0FB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MODIFICATION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C8EFF-F1C6-43E0-BAF5-2772B923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5BE38-CC85-4C88-AA1C-94C02D4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636BE-9A38-4A36-BBDB-24A4C24A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1344A-DE83-49FE-86F8-30AB815D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96B6E-FDE0-409C-B33E-E2A4076D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New demand: pause every third collision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11FBF-9D3D-4B37-9AB1-F0E0C07B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F6368"/>
                </a:solidFill>
              </a:defRPr>
            </a:pPr>
            <a:r>
              <a:rPr sz="1500" b="0" i="0">
                <a:solidFill>
                  <a:srgbClr val="5F6368"/>
                </a:solidFill>
              </a:rPr>
              <a:t>What new memory must the program acquire?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45035-42F8-46C9-8358-65559E5A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95325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06866-2BDB-4166-ADAB-7A159292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657225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const box = { x: 40, y: 60, w: 80, h: 80, v: 3 };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let collisions = 0, resumeAt = 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createCanvas(400, 200);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background(245);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fill(217, 53, 43);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rect(box.x, box.y, box.w, box.h);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if (millis() &lt; resumeAt)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box.x += box.v;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if (box.x &lt;= 0 || box.x + box.w &gt;= width)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box.x = constrain(box.x, 0, width - box.w);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box.v *= -1;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collisions++;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if (collisions % 3 === 0)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  resumeAt = millis() + 1000;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}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3280F-BB54-48C8-86CC-E58BBA5B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352B"/>
                </a:solidFill>
              </a:defRPr>
            </a:pPr>
            <a:r>
              <a:rPr sz="1050" b="1" i="0">
                <a:solidFill>
                  <a:srgbClr val="D9352B"/>
                </a:solidFill>
              </a:rPr>
              <a:t>NEW PERSISTENT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25EB0-6D31-4AF0-B231-68B5E54E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collisions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DC4EF-3452-44CD-9754-11F147C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remembers boundary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04334-BA4C-49BB-9922-A6C5833E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71717"/>
                </a:solidFill>
              </a:defRPr>
            </a:pPr>
            <a:r>
              <a:rPr sz="2250" b="1" i="0">
                <a:solidFill>
                  <a:srgbClr val="171717"/>
                </a:solidFill>
              </a:rPr>
              <a:t>resumeAt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7A250-69AA-4910-98DF-8C66BD74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represents waiting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FF90F-7019-45B1-8427-A793869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342900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35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F1553-4C1C-4F49-B65F-D7371C3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The old pixels contain no collision count and no waiting state.</a:t>
            </a:r>
          </a:p>
        </p:txBody>
      </p:sp>
    </p:spTree>
    <p:extLst>
      <p:ext uri="{BB962C8B-B14F-4D97-AF65-F5344CB8AC3E}">
        <p14:creationId xmlns:p14="http://schemas.microsoft.com/office/powerpoint/2010/main" val="7743599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820CA-D0E4-4880-88BC-700C9D6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A7390-BA66-4753-AB12-873328D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D6A6-5054-4338-9BC4-14F563A7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C5084-5B13-4906-9AFF-D7935DAE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C95EC-D7FA-4F97-854F-EA204D02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REPRESENTATION / INTENTION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60E54-4370-4FB7-AAD8-DCC31CC8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CDA11-92FF-483D-B19F-3A6593BF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BDE0E-4BCF-4F9F-B6F4-E64F0F5C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A5289-9F51-4E5A-A4BB-E4FA2414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B8744-CFE6-4785-AE9F-3B85303F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The flower is a loop wearing petals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7AD7E-9720-4D24-AC77-E91C3729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90550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2F0E8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FBA9-5075-4931-984C-FB4E3B6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52450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function setup()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createCanvas(300, 300);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noLoop();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describe("A red flower with a yellow center and green stem.");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function draw()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background(255, 248, 250);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fill(47, 143, 91);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rect(145, 145, 10, 110);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translate(150, 125);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fill(217, 53, 43);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for (let i = 0; i &lt; 8; i++) {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const a = TWO_PI * i / 8;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  circle(cos(a) * 48, sin(a) * 48, 55);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}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fill(242, 194, 48);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  circle(0, 0, 58);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71717"/>
                </a:solidFill>
              </a:defRPr>
            </a:pPr>
            <a:r>
              <a:rPr sz="1163" b="0" i="0">
                <a:solidFill>
                  <a:srgbClr val="171717"/>
                </a:solidFill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4F5D7-95E1-4252-B75F-D2056FA3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4762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4cc7f83ae43cd"/>
          <a:stretch xmlns:a="http://schemas.openxmlformats.org/drawingml/2006/main"/>
        </p:blipFill>
        <p:spPr>
          <a:xfrm xmlns:a="http://schemas.openxmlformats.org/drawingml/2006/main">
            <a:off x="6975272" y="1676400"/>
            <a:ext cx="4527956" cy="27813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BA2B1-4010-4531-915E-9491780A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76250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F2C2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A9D7A-D6D0-4B00-965E-9C867022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29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84F9C"/>
                </a:solidFill>
              </a:defRPr>
            </a:pPr>
            <a:r>
              <a:rPr sz="1200" b="1" i="0">
                <a:solidFill>
                  <a:srgbClr val="184F9C"/>
                </a:solidFill>
              </a:rPr>
              <a:t>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14DB5-3455-4F25-8FCD-FE65AACE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1717"/>
                </a:solidFill>
              </a:defRPr>
            </a:pPr>
            <a:r>
              <a:rPr sz="1500" b="0" i="0">
                <a:solidFill>
                  <a:srgbClr val="171717"/>
                </a:solidFill>
              </a:rPr>
              <a:t>8 circles + 1 circle + 1 rectangle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5D944-A32B-414C-A3FC-93A9C433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05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352B"/>
                </a:solidFill>
              </a:defRPr>
            </a:pPr>
            <a:r>
              <a:rPr sz="1200" b="1" i="0">
                <a:solidFill>
                  <a:srgbClr val="D9352B"/>
                </a:solidFill>
              </a:rPr>
              <a:t>INTENTION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702C7-C40E-4FE0-8046-EA44FAF1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772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1717"/>
                </a:solidFill>
              </a:defRPr>
            </a:pPr>
            <a:r>
              <a:rPr sz="1500" b="0" i="0">
                <a:solidFill>
                  <a:srgbClr val="171717"/>
                </a:solidFill>
              </a:rPr>
              <a:t>a flower with petals, center, and stem</a:t>
            </a:r>
          </a:p>
        </p:txBody>
      </p:sp>
    </p:spTree>
    <p:extLst>
      <p:ext uri="{BB962C8B-B14F-4D97-AF65-F5344CB8AC3E}">
        <p14:creationId xmlns:p14="http://schemas.microsoft.com/office/powerpoint/2010/main" val="10929304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953FF-0635-4C93-8A91-D913DE01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BD64F-D7ED-4307-BC77-5D47012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FF8A-CD08-4D2B-9A37-AF389A59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FA8B9-A851-4D8F-8475-C75EC12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8C436-C9E0-4375-A462-F09CDFEE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THEORY INSPECTOR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F411-6513-4F78-9CAD-6C77E01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CF25B-313B-4833-A420-96C5096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ECE69-144A-40AC-B03C-B11BBC3C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56E27-F3CC-4005-B916-2A0145B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75F4-8358-4153-90DA-A82DDB87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A theory names what the blocks hide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8D382-0928-45EC-82B6-56692CE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762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cf7dc1b5b40a9"/>
          <a:stretch xmlns:a="http://schemas.openxmlformats.org/drawingml/2006/main"/>
        </p:blipFill>
        <p:spPr>
          <a:xfrm xmlns:a="http://schemas.openxmlformats.org/drawingml/2006/main">
            <a:off x="723938" y="1676400"/>
            <a:ext cx="6419774" cy="39433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A2C8B-2E95-4520-8CD2-E40FC06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84F9C"/>
                </a:solidFill>
              </a:defRPr>
            </a:pPr>
            <a:r>
              <a:rPr sz="1650" b="1" i="0">
                <a:solidFill>
                  <a:srgbClr val="184F9C"/>
                </a:solidFill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586C5-4674-4697-AFCD-99025AC5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what persists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4893-8540-4CA1-87B2-053A2031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352B"/>
                </a:solidFill>
              </a:defRPr>
            </a:pPr>
            <a:r>
              <a:rPr sz="1650" b="1" i="0">
                <a:solidFill>
                  <a:srgbClr val="D9352B"/>
                </a:solidFill>
              </a:rPr>
              <a:t>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65C98-FE7B-416D-B31F-F9A57416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what repeats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F84A4-D8A6-4367-9E3A-85EADCD9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2C230"/>
                </a:solidFill>
              </a:defRPr>
            </a:pPr>
            <a:r>
              <a:rPr sz="1650" b="1" i="0">
                <a:solidFill>
                  <a:srgbClr val="F2C230"/>
                </a:solidFill>
              </a:rPr>
              <a:t>EVENT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DC685-E154-4043-BB9C-26B7F7A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what changes the branch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408EF-0845-45C1-BD12-1F41C12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71717"/>
                </a:solidFill>
              </a:defRPr>
            </a:pPr>
            <a:r>
              <a:rPr sz="1650" b="1" i="0">
                <a:solidFill>
                  <a:srgbClr val="171717"/>
                </a:solidFill>
              </a:rP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3DC4D-5BF3-4A38-B0AE-41D9C4B9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F6368"/>
                </a:solidFill>
              </a:defRPr>
            </a:pPr>
            <a:r>
              <a:rPr sz="1575" b="0" i="0">
                <a:solidFill>
                  <a:srgbClr val="5F6368"/>
                </a:solidFill>
              </a:rPr>
              <a:t>what makes history matter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F9B7B-EADF-4C4E-A5C2-E1B5116F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10200"/>
            <a:ext cx="3333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184F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198FE-67C8-4CC2-A9C3-1F2796E0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626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4F9C"/>
                </a:solidFill>
              </a:defRPr>
            </a:pPr>
            <a:r>
              <a:rPr sz="1275" b="1" i="0">
                <a:solidFill>
                  <a:srgbClr val="184F9C"/>
                </a:solidFill>
              </a:rPr>
              <a:t>MAKE RELATIONS VISIBLE</a:t>
            </a:r>
          </a:p>
        </p:txBody>
      </p:sp>
    </p:spTree>
    <p:extLst>
      <p:ext uri="{BB962C8B-B14F-4D97-AF65-F5344CB8AC3E}">
        <p14:creationId xmlns:p14="http://schemas.microsoft.com/office/powerpoint/2010/main" val="17235803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7BCD2-5C0C-479B-9B66-966C44D1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CE501-A3B7-4713-BF53-6E709C68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EA681-E0A8-4D65-85CC-DF50655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80A84-5D36-458E-BC8A-86EC19CB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E7400-535C-4919-9D7E-5F909E0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76169-2462-4950-9B95-EA218195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40E09-8352-47B1-94F9-134FAE0B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0DDA2-5E48-40B4-B521-0C70796D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AD65E-A9BF-498D-8975-9758234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B672F-A8C4-4A68-8101-D08A241C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Six questions replace 'Do you understand?'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29A66-FBDA-42D2-A1F5-114C37B3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C4848-4481-4260-AEA2-4DB4D37A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84F9C"/>
                </a:solidFill>
              </a:defRPr>
            </a:pPr>
            <a:r>
              <a:rPr sz="1200" b="1" i="0">
                <a:solidFill>
                  <a:srgbClr val="184F9C"/>
                </a:solidFill>
              </a:rPr>
              <a:t>LIFECYCLE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FFD0B-9A09-4073-83F6-5E16AE0F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Who calls this, and when?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91C51-9FCE-41C9-9679-6555988E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76896-185D-4933-B66F-EE35859B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352B"/>
                </a:solidFill>
              </a:defRPr>
            </a:pPr>
            <a:r>
              <a:rPr sz="1200" b="1" i="0">
                <a:solidFill>
                  <a:srgbClr val="D9352B"/>
                </a:solidFill>
              </a:rPr>
              <a:t>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75EF4-1341-462B-8A67-4BA563F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What survives the current execution?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F5AE9-2427-4C7F-8A73-B274B5D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EB741-70BA-4405-9236-E06ECC43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84F9C"/>
                </a:solidFill>
              </a:defRPr>
            </a:pPr>
            <a:r>
              <a:rPr sz="1200" b="1" i="0">
                <a:solidFill>
                  <a:srgbClr val="184F9C"/>
                </a:solidFill>
              </a:rPr>
              <a:t>TRANSITION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98318-E658-4B91-A544-31215A2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What rule produces the next state?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4A69C-4C1D-48D1-9819-935B9536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9E6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9B88A-522E-4311-B43A-61CA701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352B"/>
                </a:solidFill>
              </a:defRPr>
            </a:pPr>
            <a:r>
              <a:rPr sz="1200" b="1" i="0">
                <a:solidFill>
                  <a:srgbClr val="D9352B"/>
                </a:solidFill>
              </a:rPr>
              <a:t>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0C8CC-EEE6-4D9F-B3A8-37CB0C2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Which alternate future becomes active?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6095C-5801-4E1F-97FD-BC1562CA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C9F88-8210-4916-9459-6D9CCFF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84F9C"/>
                </a:solidFill>
              </a:defRPr>
            </a:pPr>
            <a:r>
              <a:rPr sz="1200" b="1" i="0">
                <a:solidFill>
                  <a:srgbClr val="184F9C"/>
                </a:solidFill>
              </a:rPr>
              <a:t>REPRESENTATION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D74756-3E6B-40A6-A23F-81755E34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What does each value stand for?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58C0FA-F692-4236-801F-56F0596E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9525">
            <a:solidFill>
              <a:srgbClr val="D9D5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8B591-4071-4483-89E6-7CC5306C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352B"/>
                </a:solidFill>
              </a:defRPr>
            </a:pPr>
            <a:r>
              <a:rPr sz="1200" b="1" i="0">
                <a:solidFill>
                  <a:srgbClr val="D9352B"/>
                </a:solidFill>
              </a:rPr>
              <a:t>INVARIANT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B6745-0228-41EF-8076-9BB12CC5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71717"/>
                </a:solidFill>
              </a:defRPr>
            </a:pPr>
            <a:r>
              <a:rPr sz="1725" b="1" i="0">
                <a:solidFill>
                  <a:srgbClr val="171717"/>
                </a:solidFill>
              </a:rPr>
              <a:t>What must remain true after change?</a:t>
            </a:r>
          </a:p>
        </p:txBody>
      </p:sp>
    </p:spTree>
    <p:extLst>
      <p:ext uri="{BB962C8B-B14F-4D97-AF65-F5344CB8AC3E}">
        <p14:creationId xmlns:p14="http://schemas.microsoft.com/office/powerpoint/2010/main" val="13743988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1A1E7-0024-4E07-9493-BB816EC6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0808D-1373-4E4E-B506-3E4FCA4C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09128-A326-42C7-A6F2-44813ADB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2F32-0703-475E-B431-33E8B336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8763F-7F34-4BF6-A9F7-D0115D4E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GOOD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1FC9B-18F6-4EC1-AA95-F975303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D4FC5-9A8C-4F95-94A4-BE9CD446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59068-7362-4908-BFEE-B3581ACC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0358F-D294-47D8-A35B-E24ABEAD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976E2-0E6B-4BE9-A681-FC8247D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Good code fails near the cause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324D3-D7AF-4748-BD02-3159F71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D9352B"/>
                </a:solidFill>
              </a:defRPr>
            </a:pPr>
            <a:r>
              <a:rPr sz="1800" b="1" i="0">
                <a:solidFill>
                  <a:srgbClr val="D9352B"/>
                </a:solidFill>
              </a:rPr>
              <a:t>BAD BREAK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C3BCD-46F1-484C-9F3B-8E9E1153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5F6368"/>
                </a:solidFill>
              </a:defRPr>
            </a:pPr>
            <a:r>
              <a:rPr sz="2700" b="1" i="0">
                <a:solidFill>
                  <a:srgbClr val="5F6368"/>
                </a:solidFill>
              </a:rPr>
              <a:t>elsewhere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5F6368"/>
                </a:solidFill>
              </a:defRPr>
            </a:pPr>
            <a:r>
              <a:rPr sz="2700" b="1" i="0">
                <a:solidFill>
                  <a:srgbClr val="5F6368"/>
                </a:solidFill>
              </a:rPr>
              <a:t>later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5F6368"/>
                </a:solidFill>
              </a:defRPr>
            </a:pPr>
            <a:r>
              <a:rPr sz="2700" b="1" i="0">
                <a:solidFill>
                  <a:srgbClr val="5F6368"/>
                </a:solidFill>
              </a:rPr>
              <a:t>ambiguously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5F6368"/>
                </a:solidFill>
              </a:defRPr>
            </a:pPr>
            <a:r>
              <a:rPr sz="2700" b="1" i="0">
                <a:solidFill>
                  <a:srgbClr val="5F6368"/>
                </a:solidFill>
              </a:rPr>
              <a:t>silently</a:t>
            </a:r>
          </a:p>
          <a:p xmlns:a="http://schemas.openxmlformats.org/drawingml/2006/main">
            <a:pPr algn="l">
              <a:buNone/>
              <a:defRPr sz="2700" b="1" i="0">
                <a:solidFill>
                  <a:srgbClr val="5F6368"/>
                </a:solidFill>
              </a:defRPr>
            </a:pPr>
            <a:r>
              <a:rPr sz="2700" b="1" i="0">
                <a:solidFill>
                  <a:srgbClr val="5F6368"/>
                </a:solidFill>
              </a:rPr>
              <a:t>irreversibly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ECECD-4B94-45FB-BBD4-4FD321C5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72474-3A74-46DB-8B7E-D0D120C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288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84F9C"/>
                </a:solidFill>
              </a:defRPr>
            </a:pPr>
            <a:r>
              <a:rPr sz="1800" b="1" i="0">
                <a:solidFill>
                  <a:srgbClr val="184F9C"/>
                </a:solidFill>
              </a:rPr>
              <a:t>GOOD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F53C4-6A3A-4969-89EE-5E1105E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5429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near the cause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at an explicit boundary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with preserved evidence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inside a limited blast radius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171717"/>
                </a:solidFill>
              </a:defRPr>
            </a:pPr>
            <a:r>
              <a:rPr sz="2325" b="1" i="0">
                <a:solidFill>
                  <a:srgbClr val="171717"/>
                </a:solidFill>
              </a:rPr>
              <a:t>toward a valid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69860-231D-4153-AACA-00B3EB60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87056-8984-4218-B5ED-2751FAC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DF7"/>
                </a:solidFill>
              </a:defRPr>
            </a:pPr>
            <a:r>
              <a:rPr sz="1800" b="1" i="0">
                <a:solidFill>
                  <a:srgbClr val="FFFDF7"/>
                </a:solidFill>
              </a:rPr>
              <a:t>MAKE NORMAL USE QUIET. MAKE FAILURE SPEAK.</a:t>
            </a:r>
          </a:p>
        </p:txBody>
      </p:sp>
    </p:spTree>
    <p:extLst>
      <p:ext uri="{BB962C8B-B14F-4D97-AF65-F5344CB8AC3E}">
        <p14:creationId xmlns:p14="http://schemas.microsoft.com/office/powerpoint/2010/main" val="2437085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AEF7A-A2BC-4BA5-8778-DD611FEF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84EEC-4C36-446F-8D3E-E1B7ABBA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D476D-7061-44BF-9ACC-1B839710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D3166-7838-4B71-A5C0-5A82A3D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B6C45-363B-46F5-B965-885ED4F7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FINAL BOSS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76A2E-CA19-4392-B49B-7AFBA1FE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851E5-E626-477F-9A6A-5AD1FDE1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A83BE-C4D7-4487-93FD-926F2C7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E191F-A3BA-42EA-A342-C121153A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7CA7F-B495-4E16-BF5D-61FC7739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Change the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7F9DB-0DA4-489F-92A7-591C2F21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84F9C"/>
                </a:solidFill>
              </a:defRPr>
            </a:pPr>
            <a:r>
              <a:rPr sz="2550" b="1" i="0">
                <a:solidFill>
                  <a:srgbClr val="184F9C"/>
                </a:solidFill>
              </a:rPr>
              <a:t>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5CC4A-C5B5-4E19-8A2C-D0579A4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71717"/>
                </a:solidFill>
              </a:defRPr>
            </a:pPr>
            <a:r>
              <a:rPr sz="2550" b="1" i="0">
                <a:solidFill>
                  <a:srgbClr val="171717"/>
                </a:solidFill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5802E-3F5E-4BAA-82BE-BFC6227B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D9352B"/>
                </a:solidFill>
              </a:defRPr>
            </a:pPr>
            <a:r>
              <a:rPr sz="2550" b="1" i="0">
                <a:solidFill>
                  <a:srgbClr val="D9352B"/>
                </a:solidFill>
              </a:rPr>
              <a:t>BREAK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B5B89-4924-40D6-A617-9E5678D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71717"/>
                </a:solidFill>
              </a:defRPr>
            </a:pPr>
            <a:r>
              <a:rPr sz="2550" b="1" i="0">
                <a:solidFill>
                  <a:srgbClr val="171717"/>
                </a:solidFill>
              </a:rPr>
              <a:t>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A84A0-2A69-49E1-98B4-BD05EFE2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84F9C"/>
                </a:solidFill>
              </a:defRPr>
            </a:pPr>
            <a:r>
              <a:rPr sz="2550" b="1" i="0">
                <a:solidFill>
                  <a:srgbClr val="184F9C"/>
                </a:solidFill>
              </a:rPr>
              <a:t>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EF8BA-0760-4FCB-9A95-451B0AD5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B62C2-DA02-4E37-A188-D0626AEE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171717"/>
                </a:solidFill>
              </a:defRPr>
            </a:pPr>
            <a:r>
              <a:rPr sz="3150" b="1" i="0">
                <a:solidFill>
                  <a:srgbClr val="171717"/>
                </a:solidFill>
              </a:rPr>
              <a:t>A program becomes yours when it survives a change you did not anticipate.</a:t>
            </a:r>
          </a:p>
        </p:txBody>
      </p:sp>
    </p:spTree>
    <p:extLst>
      <p:ext uri="{BB962C8B-B14F-4D97-AF65-F5344CB8AC3E}">
        <p14:creationId xmlns:p14="http://schemas.microsoft.com/office/powerpoint/2010/main" val="10501334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6A5463-B1C6-484F-B9CD-8FAB246F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16AED-6699-478B-832E-1BE7533B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F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82496-089C-4DDC-B546-9ECE4390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4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252B-BACF-4A33-B5BC-46E14A79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"/>
            <a:ext cx="857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C4C5-72FF-4F51-BC85-BA0DDE5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84F9C"/>
                </a:solidFill>
              </a:defRPr>
            </a:pPr>
            <a:r>
              <a:rPr sz="1050" b="1" i="0">
                <a:solidFill>
                  <a:srgbClr val="184F9C"/>
                </a:solidFill>
              </a:rPr>
              <a:t>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90757-148A-41F8-BB36-140762F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5F6368"/>
                </a:solidFill>
              </a:defRPr>
            </a:pPr>
            <a:r>
              <a:rPr sz="1050" b="1" i="0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8D944-C32C-428B-A533-869B6E5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877CC-F4C7-4CCC-80E7-ABEE2538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5F6368"/>
                </a:solidFill>
              </a:defRPr>
            </a:pPr>
            <a:r>
              <a:rPr sz="825" b="1" i="0">
                <a:solidFill>
                  <a:srgbClr val="5F6368"/>
                </a:solidFill>
              </a:rPr>
              <a:t>PREDICT / RUN / BREAK / READ / REPAIR /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0DEAB-0E28-44A9-B4DB-F793B177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F6368"/>
                </a:solidFill>
              </a:defRPr>
            </a:pPr>
            <a:r>
              <a:rPr sz="825" b="0" i="0">
                <a:solidFill>
                  <a:srgbClr val="5F6368"/>
                </a:solidFill>
              </a:rPr>
              <a:t>p5.js prediction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E0096-C7D3-4821-8557-A38B3E6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1087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1717"/>
                </a:solidFill>
              </a:defRPr>
            </a:pPr>
            <a:r>
              <a:rPr sz="3000" b="1" i="0">
                <a:solidFill>
                  <a:srgbClr val="171717"/>
                </a:solidFill>
              </a:rPr>
              <a:t>Sources for the theory, code, and debugging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00E91-8D25-4F0C-A4F4-93104A3C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84F9C"/>
                </a:solidFill>
              </a:defRPr>
            </a:pPr>
            <a:r>
              <a:rPr sz="1125" b="1" i="0">
                <a:solidFill>
                  <a:srgbClr val="184F9C"/>
                </a:solidFill>
              </a:rPr>
              <a:t>NAUR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A603F-4A4D-4C37-B281-F97E4DD7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Programming as Theory Building (1985)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F825-6BC4-4A80-A5F2-EE137381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https://www.naur.com/comp/c1-4.html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595D-CC3E-45AD-80B0-21AC811E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352B"/>
                </a:solidFill>
              </a:defRPr>
            </a:pPr>
            <a:r>
              <a:rPr sz="1125" b="1" i="0">
                <a:solidFill>
                  <a:srgbClr val="D9352B"/>
                </a:solidFill>
              </a:rPr>
              <a:t>DIJKSTRA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951E5-F80E-4379-B651-9D2CEBE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On the Reliability of Programs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7A600-D823-41C4-9D5B-6742E56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480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https://www.cs.utexas.edu/~EWD/transcriptions/EWD03xx/EWD303.html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9E389-7264-4C5A-91D9-FE390381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84F9C"/>
                </a:solidFill>
              </a:defRPr>
            </a:pPr>
            <a:r>
              <a:rPr sz="1125" b="1" i="0">
                <a:solidFill>
                  <a:srgbClr val="184F9C"/>
                </a:solidFill>
              </a:rPr>
              <a:t>HEIDEGGER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70FA6-3D8B-4F29-B2DF-7460AB3C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Being and Time, section 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51879-B2A9-4A1F-8715-DEE54B60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148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https://www.beyng.com/pages/en/BeingandTimeMR/BeingandTimeMR.102.html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81DC9-CDA3-46C9-92CB-18D24DE5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352B"/>
                </a:solidFill>
              </a:defRPr>
            </a:pPr>
            <a:r>
              <a:rPr sz="1125" b="1" i="0">
                <a:solidFill>
                  <a:srgbClr val="D9352B"/>
                </a:solidFill>
              </a:rPr>
              <a:t>GOODIN / NASA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624B9-ADC3-4C27-B516-B907363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Negative Space and System Safety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F4387-9C57-451D-B98F-CC8C5C6A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https://ntrs.nasa.gov/citations/20110024177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ACD19-FE87-4C9B-8199-C3BB0B69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84F9C"/>
                </a:solidFill>
              </a:defRPr>
            </a:pPr>
            <a:r>
              <a:rPr sz="1125" b="1" i="0">
                <a:solidFill>
                  <a:srgbClr val="184F9C"/>
                </a:solidFill>
              </a:rPr>
              <a:t>p5.js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C225B-A6DB-43C5-AAD7-79E9D30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setup() and draw() 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8ED23-DBCF-4A40-A108-398A3B3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https://p5js.org/reference/p5/setup/</a:t>
            </a:r>
          </a:p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https://p5js.org/reference/p5/draw/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3F866-6757-496B-B41C-4B539403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352B"/>
                </a:solidFill>
              </a:defRPr>
            </a:pPr>
            <a:r>
              <a:rPr sz="1125" b="1" i="0">
                <a:solidFill>
                  <a:srgbClr val="D9352B"/>
                </a:solidFill>
              </a:rPr>
              <a:t>p5.js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0AAF5-C1FA-4FA0-A6FF-DD0AF384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Variables and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5C146-6D4E-4655-BAE1-53FF38A4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https://p5js.org/tutorials/variables-and-change/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496C9-F7F9-46D3-AB2D-9F6D8BF5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84F9C"/>
                </a:solidFill>
              </a:defRPr>
            </a:pPr>
            <a:r>
              <a:rPr sz="1125" b="1" i="0">
                <a:solidFill>
                  <a:srgbClr val="184F9C"/>
                </a:solidFill>
              </a:rPr>
              <a:t>p5.js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EA1DD2-EF1E-4C19-9E0B-597053A8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9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Field Guide to Debugging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7644E1-94DB-46C0-8A34-211CF188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https://p5js.org/tutorials/field-guide-to-debugging/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40989E-E37A-4723-9DA2-8F2B7B42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352B"/>
                </a:solidFill>
              </a:defRPr>
            </a:pPr>
            <a:r>
              <a:rPr sz="1125" b="1" i="0">
                <a:solidFill>
                  <a:srgbClr val="D9352B"/>
                </a:solidFill>
              </a:rPr>
              <a:t>p5.js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D7E7A0-13EE-48FB-83CB-D3EE701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1717"/>
                </a:solidFill>
              </a:defRPr>
            </a:pPr>
            <a:r>
              <a:rPr sz="1500" b="1" i="0">
                <a:solidFill>
                  <a:srgbClr val="171717"/>
                </a:solidFill>
              </a:rPr>
              <a:t>Accessible Canvas Descriptions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148DD-17D3-4CF6-8CA2-9677CDE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 i="0">
                <a:solidFill>
                  <a:srgbClr val="5F6368"/>
                </a:solidFill>
              </a:defRPr>
            </a:pPr>
            <a:r>
              <a:rPr sz="938" b="0" i="0">
                <a:solidFill>
                  <a:srgbClr val="5F6368"/>
                </a:solidFill>
              </a:rPr>
              <a:t>https://p5js.org/tutorials/writing-accessible-canvas-descriptions/</a:t>
            </a:r>
          </a:p>
        </p:txBody>
      </p:sp>
    </p:spTree>
    <p:extLst>
      <p:ext uri="{BB962C8B-B14F-4D97-AF65-F5344CB8AC3E}">
        <p14:creationId xmlns:p14="http://schemas.microsoft.com/office/powerpoint/2010/main" val="260633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2026-08-24T19:58:07.8310000Z</dcterms:created>
  <dcterms:modified xsi:type="dcterms:W3CDTF">2026-08-24T19:58:07.8310000Z</dcterms:modified>
</coreProperties>
</file>